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7b0b5ed52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97b0b5ed52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97b0b5ed52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97b0b5ed52_2_18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g397b0b5ed52_2_18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97b0b5ed52_2_18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7ba0ea255_0_2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g397ba0ea255_0_2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97ba0ea255_0_2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7ba0ea255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g397ba0ea255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97ba0ea255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97b0b5ed52_2_3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g397b0b5ed52_2_35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g397b0b5ed52_2_35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7ba0ea255_0_4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97ba0ea255_0_4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97ba0ea255_0_4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7b0b5ed52_2_10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g397b0b5ed52_2_10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97b0b5ed52_2_10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97b0b5ed52_2_5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97b0b5ed52_2_5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g397b0b5ed52_2_5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7ba0ea255_0_9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g397ba0ea255_0_92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97ba0ea255_0_92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97bf30672b_3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g397bf30672b_3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97bf30672b_3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97ba0ea255_0_13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g397ba0ea255_0_13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97ba0ea255_0_13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97bf30672b_0_5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g397bf30672b_0_5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97bf30672b_0_5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97bf30672b_1_1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397bf30672b_1_17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g397bf30672b_1_17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97bf30672b_1_9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397bf30672b_1_9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97bf30672b_1_9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9a41d84c1f_0_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g39a41d84c1f_0_0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g39a41d84c1f_0_0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://autenticacion:5000" TargetMode="External"/><Relationship Id="rId4" Type="http://schemas.openxmlformats.org/officeDocument/2006/relationships/hyperlink" Target="http://citas:5000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5"/>
          <p:cNvSpPr/>
          <p:nvPr/>
        </p:nvSpPr>
        <p:spPr>
          <a:xfrm>
            <a:off x="603475" y="2016975"/>
            <a:ext cx="8321100" cy="1958100"/>
          </a:xfrm>
          <a:prstGeom prst="rect">
            <a:avLst/>
          </a:prstGeom>
          <a:solidFill>
            <a:srgbClr val="0D9488">
              <a:alpha val="12156"/>
            </a:srgbClr>
          </a:solidFill>
          <a:ln cap="flat" cmpd="sng" w="190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5"/>
          <p:cNvSpPr/>
          <p:nvPr/>
        </p:nvSpPr>
        <p:spPr>
          <a:xfrm>
            <a:off x="649225" y="2140655"/>
            <a:ext cx="82296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lang="e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Plataforma de </a:t>
            </a:r>
            <a:r>
              <a:rPr b="1" lang="e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r>
              <a:rPr b="1" lang="es" sz="4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de citas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15"/>
          <p:cNvSpPr/>
          <p:nvPr/>
        </p:nvSpPr>
        <p:spPr>
          <a:xfrm>
            <a:off x="457213" y="2970065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2000"/>
              <a:buFont typeface="Calibri"/>
              <a:buNone/>
            </a:pPr>
            <a:r>
              <a:rPr b="0" i="0" lang="es" sz="2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Avance </a:t>
            </a:r>
            <a:r>
              <a:rPr lang="es" sz="2000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s" sz="2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os</a:t>
            </a:r>
            <a:r>
              <a:rPr lang="es" sz="2000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 sistemas distribuidos</a:t>
            </a:r>
            <a:r>
              <a:rPr b="0" i="0" lang="es" sz="20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5"/>
          <p:cNvSpPr/>
          <p:nvPr/>
        </p:nvSpPr>
        <p:spPr>
          <a:xfrm>
            <a:off x="502975" y="3525295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i="1" lang="es" sz="1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Jhonn Pantoja</a:t>
            </a:r>
            <a:r>
              <a:rPr b="0" i="1" lang="e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i="1" lang="es" sz="1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Ricardo Hoy</a:t>
            </a:r>
            <a:r>
              <a:rPr b="0" i="1" lang="e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os · </a:t>
            </a:r>
            <a:r>
              <a:rPr i="1" lang="es" sz="1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Gabriela Jalvin</a:t>
            </a:r>
            <a:r>
              <a:rPr b="0" i="1" lang="es" sz="15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i="1" lang="es" sz="15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Juan Rodriguez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3474720" y="4480560"/>
            <a:ext cx="109728" cy="10972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3886200" y="4480560"/>
            <a:ext cx="109728" cy="10972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4297680" y="4480560"/>
            <a:ext cx="109728" cy="10972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4709160" y="4480560"/>
            <a:ext cx="109728" cy="109728"/>
          </a:xfrm>
          <a:prstGeom prst="ellipse">
            <a:avLst/>
          </a:prstGeom>
          <a:solidFill>
            <a:srgbClr val="94A3B8">
              <a:alpha val="50196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5120640" y="4480560"/>
            <a:ext cx="109728" cy="109728"/>
          </a:xfrm>
          <a:prstGeom prst="ellipse">
            <a:avLst/>
          </a:prstGeom>
          <a:solidFill>
            <a:srgbClr val="94A3B8">
              <a:alpha val="50196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5532120" y="4480560"/>
            <a:ext cx="109728" cy="109728"/>
          </a:xfrm>
          <a:prstGeom prst="ellipse">
            <a:avLst/>
          </a:prstGeom>
          <a:solidFill>
            <a:srgbClr val="94A3B8">
              <a:alpha val="50196"/>
            </a:srgbClr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1680" y="204625"/>
            <a:ext cx="1712175" cy="171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Estado Actual de Implementación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518425" y="950975"/>
            <a:ext cx="3840600" cy="36669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564110" y="923576"/>
            <a:ext cx="3749100" cy="384000"/>
          </a:xfrm>
          <a:prstGeom prst="rect">
            <a:avLst/>
          </a:prstGeom>
          <a:solidFill>
            <a:srgbClr val="C9DAF8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 IMPLEMENTADO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609855" y="1453890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Servicio de Autenticación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518425" y="1769363"/>
            <a:ext cx="3657600" cy="244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300"/>
              <a:buFont typeface="Calibri"/>
              <a:buChar char="●"/>
            </a:pPr>
            <a:r>
              <a:rPr lang="es" sz="130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Permite a los usuarios registrarse(nombre, correo, contraseña, etc.)</a:t>
            </a:r>
            <a:endParaRPr sz="1300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300"/>
              <a:buFont typeface="Calibri"/>
              <a:buChar char="●"/>
            </a:pPr>
            <a:r>
              <a:rPr lang="es" sz="130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 iniciar sesión de forma segura(validación de credenciales)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34455"/>
              </a:buClr>
              <a:buSzPts val="1300"/>
              <a:buFont typeface="Calibri"/>
              <a:buChar char="●"/>
            </a:pPr>
            <a:r>
              <a:rPr lang="es" sz="1300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">
                <a:solidFill>
                  <a:srgbClr val="334455"/>
                </a:solidFill>
                <a:latin typeface="Calibri"/>
                <a:ea typeface="Calibri"/>
                <a:cs typeface="Calibri"/>
                <a:sym typeface="Calibri"/>
              </a:rPr>
              <a:t>Lista de usuarios(id, nombre, rol)</a:t>
            </a:r>
            <a:endParaRPr b="0" i="0" u="none" cap="none" strike="noStrike">
              <a:solidFill>
                <a:srgbClr val="3344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Char char="●"/>
            </a:pPr>
            <a:r>
              <a:rPr lang="es" sz="1200">
                <a:solidFill>
                  <a:schemeClr val="dk2"/>
                </a:solidFill>
              </a:rPr>
              <a:t>Consultar usuarios por ID</a:t>
            </a:r>
            <a:r>
              <a:rPr b="1" lang="es" sz="1200">
                <a:solidFill>
                  <a:schemeClr val="dk2"/>
                </a:solidFill>
              </a:rPr>
              <a:t>: </a:t>
            </a:r>
            <a:r>
              <a:rPr lang="es" sz="1200">
                <a:solidFill>
                  <a:schemeClr val="dk2"/>
                </a:solidFill>
              </a:rPr>
              <a:t> Retorna en una lista el id del usuario, nombre del usuario y el rol. </a:t>
            </a:r>
            <a:endParaRPr b="0" i="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320090" y="4617845"/>
            <a:ext cx="8503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1" i="1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comunican mediante solicitudes HTTP y even</a:t>
            </a:r>
            <a:r>
              <a:rPr b="1" i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tos </a:t>
            </a:r>
            <a:r>
              <a:rPr b="1" i="1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dentro de la red Docker Compose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3300" y="1739750"/>
            <a:ext cx="3410725" cy="191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7"/>
          <p:cNvSpPr/>
          <p:nvPr/>
        </p:nvSpPr>
        <p:spPr>
          <a:xfrm>
            <a:off x="365760" y="73152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Estado Actual de Implementación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>
            <a:off x="4572000" y="906620"/>
            <a:ext cx="3840600" cy="3383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7"/>
          <p:cNvSpPr/>
          <p:nvPr/>
        </p:nvSpPr>
        <p:spPr>
          <a:xfrm>
            <a:off x="4572000" y="906620"/>
            <a:ext cx="3840600" cy="4116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4572150" y="846500"/>
            <a:ext cx="3840600" cy="3840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b="1" i="0" lang="e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IMPLEMENTADO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4663440" y="1409540"/>
            <a:ext cx="35661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i="0" lang="es" sz="17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Servicio de Citas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4663450" y="1729175"/>
            <a:ext cx="3566100" cy="21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556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lang="es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Agendamiento de citas (aciente, doctor, fecha, hora, estado)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lang="es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Consulta de citas por paciente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Font typeface="Calibri"/>
              <a:buChar char="•"/>
            </a:pPr>
            <a:r>
              <a:rPr lang="es">
                <a:solidFill>
                  <a:srgbClr val="374151"/>
                </a:solidFill>
                <a:latin typeface="Calibri"/>
                <a:ea typeface="Calibri"/>
                <a:cs typeface="Calibri"/>
                <a:sym typeface="Calibri"/>
              </a:rPr>
              <a:t>Consulta de disponibilidad(filtrado por doctor)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320040" y="4419345"/>
            <a:ext cx="8503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50"/>
              <a:buFont typeface="Calibri"/>
              <a:buNone/>
            </a:pPr>
            <a:r>
              <a:rPr b="1" i="1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comunican mediante solicitudes HTTP y even</a:t>
            </a:r>
            <a:r>
              <a:rPr b="1" i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tos </a:t>
            </a:r>
            <a:r>
              <a:rPr b="1" i="1" lang="e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dentro de la red Docker Compose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609" y="1361350"/>
            <a:ext cx="3301066" cy="247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8"/>
          <p:cNvSpPr/>
          <p:nvPr/>
        </p:nvSpPr>
        <p:spPr>
          <a:xfrm>
            <a:off x="365760" y="73152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Estado Actual de Implementación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8"/>
          <p:cNvSpPr/>
          <p:nvPr/>
        </p:nvSpPr>
        <p:spPr>
          <a:xfrm>
            <a:off x="1315075" y="1060825"/>
            <a:ext cx="3749100" cy="3329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1315085" y="1060827"/>
            <a:ext cx="3749100" cy="3840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1" i="0" lang="e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/>
          <p:cNvSpPr/>
          <p:nvPr/>
        </p:nvSpPr>
        <p:spPr>
          <a:xfrm>
            <a:off x="1360830" y="1508728"/>
            <a:ext cx="3657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600"/>
              <a:buFont typeface="Calibri"/>
              <a:buNone/>
            </a:pPr>
            <a:r>
              <a:rPr b="1" lang="es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APIGATEWAY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8"/>
          <p:cNvSpPr/>
          <p:nvPr/>
        </p:nvSpPr>
        <p:spPr>
          <a:xfrm>
            <a:off x="1360825" y="1984222"/>
            <a:ext cx="3566100" cy="14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</a:rPr>
              <a:t>centraliza el acceso a los servicios y expone endpoints unificados 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" sz="1200">
                <a:solidFill>
                  <a:schemeClr val="dk1"/>
                </a:solidFill>
              </a:rPr>
              <a:t>Rutas hacia autenticación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" sz="1200">
                <a:solidFill>
                  <a:schemeClr val="dk1"/>
                </a:solidFill>
              </a:rPr>
              <a:t>Rutas hacia gestion de citas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s" sz="1200">
                <a:solidFill>
                  <a:schemeClr val="dk1"/>
                </a:solidFill>
              </a:rPr>
              <a:t>Manejo de errores</a:t>
            </a:r>
            <a:endParaRPr sz="1200">
              <a:solidFill>
                <a:srgbClr val="37415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50825" y="1508725"/>
            <a:ext cx="2474100" cy="247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9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9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i="0" lang="e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Componentes Pendientes de Implementación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365760" y="1158495"/>
            <a:ext cx="4023300" cy="3474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9"/>
          <p:cNvSpPr/>
          <p:nvPr/>
        </p:nvSpPr>
        <p:spPr>
          <a:xfrm>
            <a:off x="365760" y="1158495"/>
            <a:ext cx="4023300" cy="457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411505" y="1176721"/>
            <a:ext cx="3931800" cy="402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⚠  PENDIENTE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9"/>
          <p:cNvSpPr/>
          <p:nvPr/>
        </p:nvSpPr>
        <p:spPr>
          <a:xfrm>
            <a:off x="502920" y="1752855"/>
            <a:ext cx="3749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🔔  Servicio de Notificaciones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793888" y="2300075"/>
            <a:ext cx="3167100" cy="139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None/>
            </a:pPr>
            <a:r>
              <a:rPr b="0" i="0" lang="e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 encargará de informar a los usuarios sobre el estado de sus citas. Enviará alertas y confirmaciones de agendamiento</a:t>
            </a:r>
            <a:r>
              <a:rPr lang="es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9"/>
          <p:cNvSpPr/>
          <p:nvPr/>
        </p:nvSpPr>
        <p:spPr>
          <a:xfrm>
            <a:off x="4754895" y="1158433"/>
            <a:ext cx="4023300" cy="3474600"/>
          </a:xfrm>
          <a:prstGeom prst="rect">
            <a:avLst/>
          </a:prstGeom>
          <a:solidFill>
            <a:schemeClr val="accent3"/>
          </a:solidFill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/>
          <p:nvPr/>
        </p:nvSpPr>
        <p:spPr>
          <a:xfrm>
            <a:off x="4754895" y="1158433"/>
            <a:ext cx="4023300" cy="457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9"/>
          <p:cNvSpPr/>
          <p:nvPr/>
        </p:nvSpPr>
        <p:spPr>
          <a:xfrm>
            <a:off x="4800690" y="1176733"/>
            <a:ext cx="3931800" cy="4023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100"/>
              <a:buFont typeface="Calibri"/>
              <a:buNone/>
            </a:pPr>
            <a:r>
              <a:rPr b="1" i="0" lang="es" sz="11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⚠  PENDIENTE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9"/>
          <p:cNvSpPr/>
          <p:nvPr/>
        </p:nvSpPr>
        <p:spPr>
          <a:xfrm>
            <a:off x="4892055" y="1752793"/>
            <a:ext cx="37491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📋  Servicio de Historial de Citas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9"/>
          <p:cNvSpPr/>
          <p:nvPr/>
        </p:nvSpPr>
        <p:spPr>
          <a:xfrm>
            <a:off x="5085375" y="2392863"/>
            <a:ext cx="3362400" cy="12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250"/>
              <a:buFont typeface="Calibri"/>
              <a:buNone/>
            </a:pPr>
            <a:r>
              <a:rPr b="0" i="0" lang="e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Permitirá almacenar y consultar las citas realizadas. Brindará acceso a registros históricos para pacientes y doctores.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0"/>
          <p:cNvSpPr/>
          <p:nvPr/>
        </p:nvSpPr>
        <p:spPr>
          <a:xfrm>
            <a:off x="365760" y="73152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1" lang="es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Diagrama estructura actual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2" name="Google Shape;132;p20" title="_Diagrama de flujo - Página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73375" y="729675"/>
            <a:ext cx="5899126" cy="429760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16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8F0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1"/>
          <p:cNvSpPr/>
          <p:nvPr/>
        </p:nvSpPr>
        <p:spPr>
          <a:xfrm>
            <a:off x="4513252" y="909063"/>
            <a:ext cx="4114800" cy="36576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39" name="Google Shape;139;p2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1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Comunicación entre Servicios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1"/>
          <p:cNvSpPr/>
          <p:nvPr/>
        </p:nvSpPr>
        <p:spPr>
          <a:xfrm>
            <a:off x="274320" y="914400"/>
            <a:ext cx="4114800" cy="36576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1"/>
          <p:cNvSpPr/>
          <p:nvPr/>
        </p:nvSpPr>
        <p:spPr>
          <a:xfrm>
            <a:off x="411480" y="1005840"/>
            <a:ext cx="3840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Reglas de comunicación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411475" y="1463051"/>
            <a:ext cx="3840600" cy="306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50"/>
              <a:buFont typeface="Calibri"/>
              <a:buNone/>
            </a:pPr>
            <a:r>
              <a:rPr b="1" i="0" lang="es" sz="115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Protocolo:</a:t>
            </a:r>
            <a:r>
              <a:rPr b="0" i="0" lang="es" sz="11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HTTP/REST con librería requests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alibri"/>
              <a:buNone/>
            </a:pPr>
            <a:r>
              <a:rPr b="0" i="0" lang="es" sz="115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50"/>
              <a:buFont typeface="Calibri"/>
              <a:buNone/>
            </a:pPr>
            <a:r>
              <a:rPr b="1" lang="es" sz="1100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Citas actúa como:</a:t>
            </a:r>
            <a:r>
              <a:rPr b="1" lang="e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CLIENTE — realiza peticiones internas para validar identidades.</a:t>
            </a:r>
            <a:endParaRPr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Calibri"/>
              <a:buNone/>
            </a:pPr>
            <a:r>
              <a:rPr b="0" i="0" lang="es" sz="11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50"/>
              <a:buFont typeface="Calibri"/>
              <a:buNone/>
            </a:pPr>
            <a:r>
              <a:rPr b="1" lang="es" sz="1100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Autenticación actúa como: </a:t>
            </a:r>
            <a:r>
              <a:rPr lang="e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PROVEEDOR — expone endpoints con la información de usuarios y roles.</a:t>
            </a:r>
            <a:br>
              <a:rPr lang="es" sz="1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50"/>
              <a:buFont typeface="Calibri"/>
              <a:buNone/>
            </a:pPr>
            <a:r>
              <a:rPr b="1" i="0" lang="es" sz="11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Red interna:</a:t>
            </a:r>
            <a:r>
              <a:rPr b="0" i="0" lang="e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Docker Compose (hostname = nombre del servicio)</a:t>
            </a:r>
            <a:br>
              <a:rPr b="0" i="0" lang="e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50"/>
              <a:buFont typeface="Calibri"/>
              <a:buNone/>
            </a:pPr>
            <a:r>
              <a:rPr b="1" lang="es" sz="1100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Host del servicio de autenticación: </a:t>
            </a:r>
            <a:r>
              <a:rPr b="1" lang="es" sz="1100" u="sng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http://autenticacion:5000</a:t>
            </a:r>
            <a:endParaRPr b="1" sz="1100">
              <a:solidFill>
                <a:srgbClr val="F59E0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5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150"/>
              <a:buFont typeface="Calibri"/>
              <a:buNone/>
            </a:pPr>
            <a:r>
              <a:rPr b="1" lang="es" sz="1100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Host del servicio de citas: </a:t>
            </a:r>
            <a:r>
              <a:rPr b="1" lang="es" sz="1100" u="sng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http://citas:5000</a:t>
            </a:r>
            <a:endParaRPr b="1" sz="11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1"/>
          <p:cNvSpPr/>
          <p:nvPr/>
        </p:nvSpPr>
        <p:spPr>
          <a:xfrm>
            <a:off x="4572000" y="914399"/>
            <a:ext cx="355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300" lIns="84650" spcFirstLastPara="1" rIns="84650" wrap="square" tIns="42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296"/>
              <a:buFont typeface="Calibri"/>
              <a:buNone/>
            </a:pPr>
            <a:r>
              <a:rPr b="1" i="0" lang="es" sz="1296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Flujo de una petición</a:t>
            </a:r>
            <a:endParaRPr b="0" i="0" sz="12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1"/>
          <p:cNvSpPr/>
          <p:nvPr/>
        </p:nvSpPr>
        <p:spPr>
          <a:xfrm>
            <a:off x="4723375" y="1335724"/>
            <a:ext cx="298500" cy="298500"/>
          </a:xfrm>
          <a:prstGeom prst="ellipse">
            <a:avLst/>
          </a:prstGeom>
          <a:solidFill>
            <a:srgbClr val="0D9488"/>
          </a:solidFill>
          <a:ln cap="flat" cmpd="sng" w="109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550" lIns="78550" spcFirstLastPara="1" rIns="78550" wrap="square" tIns="7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3"/>
          </a:p>
        </p:txBody>
      </p:sp>
      <p:sp>
        <p:nvSpPr>
          <p:cNvPr id="146" name="Google Shape;146;p21"/>
          <p:cNvSpPr/>
          <p:nvPr/>
        </p:nvSpPr>
        <p:spPr>
          <a:xfrm>
            <a:off x="5107813" y="1286493"/>
            <a:ext cx="31323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300" lIns="84650" spcFirstLastPara="1" rIns="84650" wrap="square" tIns="42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5"/>
              <a:buFont typeface="Calibri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Cliente / Frontend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1"/>
          <p:cNvSpPr/>
          <p:nvPr/>
        </p:nvSpPr>
        <p:spPr>
          <a:xfrm>
            <a:off x="5136373" y="1415904"/>
            <a:ext cx="31323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300" lIns="84650" spcFirstLastPara="1" rIns="84650" wrap="square" tIns="42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26"/>
              <a:buFont typeface="Calibri"/>
              <a:buNone/>
            </a:pPr>
            <a:r>
              <a:rPr i="1" lang="e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GET /citas/disponibilidad?id_doctor=1&amp;fecha=2026-05-15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1"/>
          <p:cNvSpPr/>
          <p:nvPr/>
        </p:nvSpPr>
        <p:spPr>
          <a:xfrm>
            <a:off x="4762346" y="1385407"/>
            <a:ext cx="1737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250" lIns="78550" spcFirstLastPara="1" rIns="78550" wrap="square" tIns="39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1"/>
              <a:buFont typeface="Calibri"/>
              <a:buNone/>
            </a:pPr>
            <a:r>
              <a:rPr b="1" i="0" lang="es" sz="103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" name="Google Shape;149;p21"/>
          <p:cNvCxnSpPr/>
          <p:nvPr/>
        </p:nvCxnSpPr>
        <p:spPr>
          <a:xfrm>
            <a:off x="4872604" y="1634215"/>
            <a:ext cx="0" cy="172800"/>
          </a:xfrm>
          <a:prstGeom prst="straightConnector1">
            <a:avLst/>
          </a:prstGeom>
          <a:noFill/>
          <a:ln cap="flat" cmpd="sng" w="16350">
            <a:solidFill>
              <a:srgbClr val="0D948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0" name="Google Shape;150;p21"/>
          <p:cNvSpPr/>
          <p:nvPr/>
        </p:nvSpPr>
        <p:spPr>
          <a:xfrm>
            <a:off x="4723375" y="1956277"/>
            <a:ext cx="298500" cy="298500"/>
          </a:xfrm>
          <a:prstGeom prst="ellipse">
            <a:avLst/>
          </a:prstGeom>
          <a:solidFill>
            <a:srgbClr val="0D9488"/>
          </a:solidFill>
          <a:ln cap="flat" cmpd="sng" w="109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550" lIns="78550" spcFirstLastPara="1" rIns="78550" wrap="square" tIns="7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99"/>
          </a:p>
        </p:txBody>
      </p:sp>
      <p:sp>
        <p:nvSpPr>
          <p:cNvPr id="151" name="Google Shape;151;p21"/>
          <p:cNvSpPr/>
          <p:nvPr/>
        </p:nvSpPr>
        <p:spPr>
          <a:xfrm>
            <a:off x="5122238" y="1938067"/>
            <a:ext cx="31320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300" lIns="84650" spcFirstLastPara="1" rIns="84650" wrap="square" tIns="42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5"/>
              <a:buFont typeface="Calibri"/>
              <a:buNone/>
            </a:pPr>
            <a:r>
              <a:rPr b="1" lang="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Gateway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1"/>
          <p:cNvSpPr/>
          <p:nvPr/>
        </p:nvSpPr>
        <p:spPr>
          <a:xfrm>
            <a:off x="5122238" y="2058117"/>
            <a:ext cx="31320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300" lIns="84650" spcFirstLastPara="1" rIns="84650" wrap="square" tIns="42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26"/>
              <a:buFont typeface="Calibri"/>
              <a:buNone/>
            </a:pPr>
            <a:r>
              <a:rPr i="1" lang="e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Recibe petición </a:t>
            </a:r>
            <a:r>
              <a:rPr i="1" lang="e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i="1" lang="e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redirige a citas:5000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1"/>
          <p:cNvSpPr/>
          <p:nvPr/>
        </p:nvSpPr>
        <p:spPr>
          <a:xfrm>
            <a:off x="4767963" y="2006663"/>
            <a:ext cx="2094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250" lIns="78550" spcFirstLastPara="1" rIns="78550" wrap="square" tIns="39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1"/>
              <a:buFont typeface="Calibri"/>
              <a:buNone/>
            </a:pPr>
            <a:r>
              <a:rPr b="1" i="0" lang="es" sz="103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4" name="Google Shape;154;p21"/>
          <p:cNvCxnSpPr/>
          <p:nvPr/>
        </p:nvCxnSpPr>
        <p:spPr>
          <a:xfrm>
            <a:off x="4872637" y="2265129"/>
            <a:ext cx="0" cy="172800"/>
          </a:xfrm>
          <a:prstGeom prst="straightConnector1">
            <a:avLst/>
          </a:prstGeom>
          <a:noFill/>
          <a:ln cap="flat" cmpd="sng" w="16350">
            <a:solidFill>
              <a:srgbClr val="0D948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55" name="Google Shape;155;p21"/>
          <p:cNvSpPr/>
          <p:nvPr/>
        </p:nvSpPr>
        <p:spPr>
          <a:xfrm>
            <a:off x="4723375" y="2600388"/>
            <a:ext cx="298500" cy="298500"/>
          </a:xfrm>
          <a:prstGeom prst="ellipse">
            <a:avLst/>
          </a:prstGeom>
          <a:solidFill>
            <a:srgbClr val="0D9488"/>
          </a:solidFill>
          <a:ln cap="flat" cmpd="sng" w="109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8550" lIns="78550" spcFirstLastPara="1" rIns="78550" wrap="square" tIns="785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1"/>
          <p:cNvSpPr/>
          <p:nvPr/>
        </p:nvSpPr>
        <p:spPr>
          <a:xfrm>
            <a:off x="4764065" y="2627926"/>
            <a:ext cx="2172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9250" lIns="78550" spcFirstLastPara="1" rIns="78550" wrap="square" tIns="39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31"/>
              <a:buFont typeface="Calibri"/>
              <a:buNone/>
            </a:pPr>
            <a:r>
              <a:rPr b="1" i="0" lang="es" sz="103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1"/>
          <p:cNvSpPr/>
          <p:nvPr/>
        </p:nvSpPr>
        <p:spPr>
          <a:xfrm>
            <a:off x="5122238" y="2556563"/>
            <a:ext cx="31320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300" lIns="84650" spcFirstLastPara="1" rIns="84650" wrap="square" tIns="42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5"/>
              <a:buFont typeface="Calibri"/>
              <a:buNone/>
            </a:pPr>
            <a:r>
              <a:rPr b="1" i="0" lang="e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Servicio Citas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1"/>
          <p:cNvSpPr/>
          <p:nvPr/>
        </p:nvSpPr>
        <p:spPr>
          <a:xfrm>
            <a:off x="5122238" y="2673264"/>
            <a:ext cx="31320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300" lIns="84650" spcFirstLastPara="1" rIns="84650" wrap="square" tIns="42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26"/>
              <a:buFont typeface="Calibri"/>
              <a:buNone/>
            </a:pPr>
            <a:r>
              <a:rPr i="1" lang="e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Consulta a Auth  </a:t>
            </a:r>
            <a:r>
              <a:rPr i="1" lang="e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i="1" lang="e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valida que el ID sea Doctor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21"/>
          <p:cNvCxnSpPr/>
          <p:nvPr/>
        </p:nvCxnSpPr>
        <p:spPr>
          <a:xfrm>
            <a:off x="4872604" y="2898878"/>
            <a:ext cx="0" cy="172800"/>
          </a:xfrm>
          <a:prstGeom prst="straightConnector1">
            <a:avLst/>
          </a:prstGeom>
          <a:noFill/>
          <a:ln cap="flat" cmpd="sng" w="16350">
            <a:solidFill>
              <a:srgbClr val="0D948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0" name="Google Shape;160;p21"/>
          <p:cNvSpPr/>
          <p:nvPr/>
        </p:nvSpPr>
        <p:spPr>
          <a:xfrm>
            <a:off x="4724374" y="3220968"/>
            <a:ext cx="321600" cy="321600"/>
          </a:xfrm>
          <a:prstGeom prst="ellipse">
            <a:avLst/>
          </a:prstGeom>
          <a:solidFill>
            <a:srgbClr val="0D9488"/>
          </a:solidFill>
          <a:ln cap="flat" cmpd="sng" w="117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650" lIns="84650" spcFirstLastPara="1" rIns="84650" wrap="square" tIns="84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1"/>
          <p:cNvSpPr/>
          <p:nvPr/>
        </p:nvSpPr>
        <p:spPr>
          <a:xfrm>
            <a:off x="5122238" y="3174335"/>
            <a:ext cx="31320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300" lIns="84650" spcFirstLastPara="1" rIns="84650" wrap="square" tIns="42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5"/>
              <a:buFont typeface="Calibri"/>
              <a:buNone/>
            </a:pPr>
            <a:r>
              <a:rPr b="1" lang="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Servicio Citas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1"/>
          <p:cNvSpPr/>
          <p:nvPr/>
        </p:nvSpPr>
        <p:spPr>
          <a:xfrm>
            <a:off x="5122238" y="3276036"/>
            <a:ext cx="31320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300" lIns="84650" spcFirstLastPara="1" rIns="84650" wrap="square" tIns="42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26"/>
              <a:buFont typeface="Calibri"/>
              <a:buNone/>
            </a:pPr>
            <a:r>
              <a:rPr i="1" lang="e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Consulta BD </a:t>
            </a:r>
            <a:r>
              <a:rPr i="1" lang="e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i="1" lang="e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calcula disponibilidad real y retorna JSON5</a:t>
            </a:r>
            <a:endParaRPr i="1" sz="9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21"/>
          <p:cNvCxnSpPr/>
          <p:nvPr/>
        </p:nvCxnSpPr>
        <p:spPr>
          <a:xfrm>
            <a:off x="4885283" y="3543543"/>
            <a:ext cx="0" cy="186300"/>
          </a:xfrm>
          <a:prstGeom prst="straightConnector1">
            <a:avLst/>
          </a:prstGeom>
          <a:noFill/>
          <a:ln cap="flat" cmpd="sng" w="17625">
            <a:solidFill>
              <a:srgbClr val="0D948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4" name="Google Shape;164;p21"/>
          <p:cNvSpPr/>
          <p:nvPr/>
        </p:nvSpPr>
        <p:spPr>
          <a:xfrm>
            <a:off x="4724374" y="3915718"/>
            <a:ext cx="321600" cy="321600"/>
          </a:xfrm>
          <a:prstGeom prst="ellipse">
            <a:avLst/>
          </a:prstGeom>
          <a:solidFill>
            <a:srgbClr val="0D9488"/>
          </a:solidFill>
          <a:ln cap="flat" cmpd="sng" w="1175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4650" lIns="84650" spcFirstLastPara="1" rIns="84650" wrap="square" tIns="846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1"/>
          <p:cNvSpPr/>
          <p:nvPr/>
        </p:nvSpPr>
        <p:spPr>
          <a:xfrm>
            <a:off x="4768200" y="3948510"/>
            <a:ext cx="208800" cy="22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300" lIns="84650" spcFirstLastPara="1" rIns="84650" wrap="square" tIns="423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1"/>
              <a:buFont typeface="Calibri"/>
              <a:buNone/>
            </a:pPr>
            <a:r>
              <a:rPr b="1" lang="es" sz="111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11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21"/>
          <p:cNvCxnSpPr/>
          <p:nvPr/>
        </p:nvCxnSpPr>
        <p:spPr>
          <a:xfrm>
            <a:off x="4885283" y="4237318"/>
            <a:ext cx="0" cy="186300"/>
          </a:xfrm>
          <a:prstGeom prst="straightConnector1">
            <a:avLst/>
          </a:prstGeom>
          <a:noFill/>
          <a:ln cap="flat" cmpd="sng" w="17625">
            <a:solidFill>
              <a:srgbClr val="0D948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7" name="Google Shape;167;p21"/>
          <p:cNvSpPr/>
          <p:nvPr/>
        </p:nvSpPr>
        <p:spPr>
          <a:xfrm>
            <a:off x="4768200" y="3276022"/>
            <a:ext cx="2088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300" lIns="84650" spcFirstLastPara="1" rIns="84650" wrap="square" tIns="42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11"/>
              <a:buFont typeface="Calibri"/>
              <a:buNone/>
            </a:pPr>
            <a:r>
              <a:rPr b="1" lang="es" sz="111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11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5174038" y="3860447"/>
            <a:ext cx="3132000" cy="23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300" lIns="84650" spcFirstLastPara="1" rIns="84650" wrap="square" tIns="42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65"/>
              <a:buFont typeface="Calibri"/>
              <a:buNone/>
            </a:pPr>
            <a:r>
              <a:rPr b="1" lang="e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Gateway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/>
          <p:nvPr/>
        </p:nvSpPr>
        <p:spPr>
          <a:xfrm>
            <a:off x="5174038" y="4020573"/>
            <a:ext cx="3132000" cy="29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2300" lIns="84650" spcFirstLastPara="1" rIns="84650" wrap="square" tIns="423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26"/>
              <a:buFont typeface="Calibri"/>
              <a:buNone/>
            </a:pPr>
            <a:r>
              <a:rPr i="1" lang="e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Recibe respuesta</a:t>
            </a:r>
            <a:r>
              <a:rPr i="1" lang="es" sz="9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→  devuelve el resultado final al cliente</a:t>
            </a:r>
            <a:endParaRPr i="1" sz="9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2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2"/>
          <p:cNvSpPr/>
          <p:nvPr/>
        </p:nvSpPr>
        <p:spPr>
          <a:xfrm>
            <a:off x="365760" y="73152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Endpoints — Servicio de Autenticación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2"/>
          <p:cNvSpPr/>
          <p:nvPr/>
        </p:nvSpPr>
        <p:spPr>
          <a:xfrm>
            <a:off x="274300" y="914375"/>
            <a:ext cx="4103700" cy="72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2"/>
          <p:cNvSpPr/>
          <p:nvPr/>
        </p:nvSpPr>
        <p:spPr>
          <a:xfrm>
            <a:off x="274300" y="914375"/>
            <a:ext cx="1005900" cy="7773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2"/>
          <p:cNvSpPr/>
          <p:nvPr/>
        </p:nvSpPr>
        <p:spPr>
          <a:xfrm>
            <a:off x="274300" y="932673"/>
            <a:ext cx="10059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1503250" y="1010545"/>
            <a:ext cx="1645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i="0" lang="es" sz="14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1606975" y="1435775"/>
            <a:ext cx="231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 que el servicio esté activo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t/>
            </a:r>
            <a:endParaRPr i="1" sz="11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4766000" y="914375"/>
            <a:ext cx="4103700" cy="70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2"/>
          <p:cNvSpPr/>
          <p:nvPr/>
        </p:nvSpPr>
        <p:spPr>
          <a:xfrm>
            <a:off x="4766000" y="914373"/>
            <a:ext cx="1005900" cy="7230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2"/>
          <p:cNvSpPr/>
          <p:nvPr/>
        </p:nvSpPr>
        <p:spPr>
          <a:xfrm>
            <a:off x="4766000" y="932651"/>
            <a:ext cx="10059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5863275" y="960085"/>
            <a:ext cx="1645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i="0" lang="es" sz="14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/test-db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/>
          <p:nvPr/>
        </p:nvSpPr>
        <p:spPr>
          <a:xfrm>
            <a:off x="5863275" y="1307475"/>
            <a:ext cx="258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i="0" lang="e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 la conexión con la base de datos</a:t>
            </a:r>
            <a:endParaRPr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274275" y="1892800"/>
            <a:ext cx="8595300" cy="615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2"/>
          <p:cNvSpPr/>
          <p:nvPr/>
        </p:nvSpPr>
        <p:spPr>
          <a:xfrm>
            <a:off x="274275" y="1892800"/>
            <a:ext cx="1005900" cy="6156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2"/>
          <p:cNvSpPr/>
          <p:nvPr/>
        </p:nvSpPr>
        <p:spPr>
          <a:xfrm>
            <a:off x="274100" y="1911402"/>
            <a:ext cx="10059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1371571" y="1929884"/>
            <a:ext cx="16458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i="0" lang="es" sz="14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/login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1371571" y="2226551"/>
            <a:ext cx="15189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Autenticar usuario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3108947" y="1929884"/>
            <a:ext cx="52650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1" lang="es" sz="12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Recibe correo y contraseña → Consulta tabla usuarios → Login exitoso o Error 401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2"/>
          <p:cNvSpPr/>
          <p:nvPr/>
        </p:nvSpPr>
        <p:spPr>
          <a:xfrm>
            <a:off x="269590" y="2726650"/>
            <a:ext cx="8600400" cy="615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2"/>
          <p:cNvSpPr/>
          <p:nvPr/>
        </p:nvSpPr>
        <p:spPr>
          <a:xfrm>
            <a:off x="269590" y="2726650"/>
            <a:ext cx="1006500" cy="6156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0" y="2739615"/>
            <a:ext cx="1276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/>
          <p:nvPr/>
        </p:nvSpPr>
        <p:spPr>
          <a:xfrm>
            <a:off x="1367485" y="2759041"/>
            <a:ext cx="16467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i="0" lang="es" sz="14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/registro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/>
          <p:nvPr/>
        </p:nvSpPr>
        <p:spPr>
          <a:xfrm>
            <a:off x="1367485" y="3018173"/>
            <a:ext cx="7227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b="0" i="0" lang="es" sz="11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Registrar nuevo usuario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/>
          <p:nvPr/>
        </p:nvSpPr>
        <p:spPr>
          <a:xfrm>
            <a:off x="3105819" y="2759041"/>
            <a:ext cx="55809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1" lang="es" sz="12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Recibe: nombre, contraseña, correo, teléfono, dirección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/>
          <p:nvPr/>
        </p:nvSpPr>
        <p:spPr>
          <a:xfrm>
            <a:off x="274300" y="3481800"/>
            <a:ext cx="8595300" cy="615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"/>
          <p:cNvSpPr/>
          <p:nvPr/>
        </p:nvSpPr>
        <p:spPr>
          <a:xfrm>
            <a:off x="274300" y="3512900"/>
            <a:ext cx="1005900" cy="5943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2"/>
          <p:cNvSpPr/>
          <p:nvPr/>
        </p:nvSpPr>
        <p:spPr>
          <a:xfrm>
            <a:off x="274300" y="3652950"/>
            <a:ext cx="10059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/>
          <p:nvPr/>
        </p:nvSpPr>
        <p:spPr>
          <a:xfrm>
            <a:off x="1371575" y="3555245"/>
            <a:ext cx="1645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i="0" lang="es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listar</a:t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/>
          <p:nvPr/>
        </p:nvSpPr>
        <p:spPr>
          <a:xfrm>
            <a:off x="3126200" y="3631150"/>
            <a:ext cx="5614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Permite obtener la lista de usuarios registrados, retornando el nombre y rol de todos los usuarios de la base de datos</a:t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t/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274300" y="4266475"/>
            <a:ext cx="8600400" cy="615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2"/>
          <p:cNvSpPr/>
          <p:nvPr/>
        </p:nvSpPr>
        <p:spPr>
          <a:xfrm>
            <a:off x="274300" y="4266475"/>
            <a:ext cx="1005900" cy="6156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2"/>
          <p:cNvSpPr/>
          <p:nvPr/>
        </p:nvSpPr>
        <p:spPr>
          <a:xfrm>
            <a:off x="274300" y="4358989"/>
            <a:ext cx="10059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2"/>
          <p:cNvSpPr/>
          <p:nvPr/>
        </p:nvSpPr>
        <p:spPr>
          <a:xfrm>
            <a:off x="1371575" y="4266475"/>
            <a:ext cx="22440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lang="e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/usuarios/&lt;int:id_usuario&gt;</a:t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/>
          <p:nvPr/>
        </p:nvSpPr>
        <p:spPr>
          <a:xfrm>
            <a:off x="3881450" y="4412650"/>
            <a:ext cx="41037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Retorna el nombre del usuario y el rol, correspondientes al id ingresado. </a:t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t/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2"/>
          <p:cNvSpPr/>
          <p:nvPr/>
        </p:nvSpPr>
        <p:spPr>
          <a:xfrm>
            <a:off x="1458832" y="4625775"/>
            <a:ext cx="2244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Busca usuario por ID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2"/>
          <p:cNvSpPr/>
          <p:nvPr/>
        </p:nvSpPr>
        <p:spPr>
          <a:xfrm>
            <a:off x="1458835" y="3821973"/>
            <a:ext cx="72279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Busca todos los usuarios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chemeClr val="dk2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3"/>
          <p:cNvSpPr/>
          <p:nvPr/>
        </p:nvSpPr>
        <p:spPr>
          <a:xfrm>
            <a:off x="365760" y="73152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Endpoints — Servicio de</a:t>
            </a:r>
            <a:r>
              <a:rPr b="1" lang="e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Citas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3"/>
          <p:cNvSpPr/>
          <p:nvPr/>
        </p:nvSpPr>
        <p:spPr>
          <a:xfrm>
            <a:off x="274425" y="1060650"/>
            <a:ext cx="4103700" cy="72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3"/>
          <p:cNvSpPr/>
          <p:nvPr/>
        </p:nvSpPr>
        <p:spPr>
          <a:xfrm>
            <a:off x="274425" y="1060650"/>
            <a:ext cx="1005900" cy="7773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3"/>
          <p:cNvSpPr/>
          <p:nvPr/>
        </p:nvSpPr>
        <p:spPr>
          <a:xfrm>
            <a:off x="274425" y="1078948"/>
            <a:ext cx="10059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3"/>
          <p:cNvSpPr/>
          <p:nvPr/>
        </p:nvSpPr>
        <p:spPr>
          <a:xfrm>
            <a:off x="1503375" y="1156820"/>
            <a:ext cx="1645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i="0" lang="es" sz="14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1607100" y="1582050"/>
            <a:ext cx="2317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s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 que el servicio esté activo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t/>
            </a:r>
            <a:endParaRPr i="1" sz="11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4766125" y="1060650"/>
            <a:ext cx="4103700" cy="70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3"/>
          <p:cNvSpPr/>
          <p:nvPr/>
        </p:nvSpPr>
        <p:spPr>
          <a:xfrm>
            <a:off x="4766125" y="1060648"/>
            <a:ext cx="1005900" cy="7230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3"/>
          <p:cNvSpPr/>
          <p:nvPr/>
        </p:nvSpPr>
        <p:spPr>
          <a:xfrm>
            <a:off x="4766125" y="1078926"/>
            <a:ext cx="10059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5863400" y="1106360"/>
            <a:ext cx="1645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i="0" lang="es" sz="14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/test-db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/>
          <p:nvPr/>
        </p:nvSpPr>
        <p:spPr>
          <a:xfrm>
            <a:off x="5863400" y="1453750"/>
            <a:ext cx="258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i="0" lang="e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Prueba la conexión con la base de datos</a:t>
            </a:r>
            <a:endParaRPr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/>
          <p:nvPr/>
        </p:nvSpPr>
        <p:spPr>
          <a:xfrm>
            <a:off x="274475" y="2084225"/>
            <a:ext cx="8595300" cy="615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274475" y="2084225"/>
            <a:ext cx="1005900" cy="6156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3"/>
          <p:cNvSpPr/>
          <p:nvPr/>
        </p:nvSpPr>
        <p:spPr>
          <a:xfrm>
            <a:off x="274300" y="2102827"/>
            <a:ext cx="10059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/>
          <p:nvPr/>
        </p:nvSpPr>
        <p:spPr>
          <a:xfrm>
            <a:off x="1408146" y="2112597"/>
            <a:ext cx="16458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i="0" lang="es" sz="14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es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agendar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3109147" y="2121309"/>
            <a:ext cx="5265000" cy="58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Envia un json con la información solicitada → valida que la información necesaria este e inserta la cita en la base de datos.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271850" y="2929200"/>
            <a:ext cx="8595300" cy="615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3"/>
          <p:cNvSpPr/>
          <p:nvPr/>
        </p:nvSpPr>
        <p:spPr>
          <a:xfrm>
            <a:off x="271850" y="2960300"/>
            <a:ext cx="1005900" cy="5943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23"/>
          <p:cNvSpPr/>
          <p:nvPr/>
        </p:nvSpPr>
        <p:spPr>
          <a:xfrm>
            <a:off x="271850" y="3100350"/>
            <a:ext cx="10059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3"/>
          <p:cNvSpPr/>
          <p:nvPr/>
        </p:nvSpPr>
        <p:spPr>
          <a:xfrm>
            <a:off x="3106300" y="3082900"/>
            <a:ext cx="4900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Consulta todas las citas registradas y se filtra por el id del paciente</a:t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/>
          <p:nvPr/>
        </p:nvSpPr>
        <p:spPr>
          <a:xfrm>
            <a:off x="271850" y="3713875"/>
            <a:ext cx="8600400" cy="615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3"/>
          <p:cNvSpPr/>
          <p:nvPr/>
        </p:nvSpPr>
        <p:spPr>
          <a:xfrm>
            <a:off x="271850" y="3713875"/>
            <a:ext cx="1005900" cy="6156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3"/>
          <p:cNvSpPr/>
          <p:nvPr/>
        </p:nvSpPr>
        <p:spPr>
          <a:xfrm>
            <a:off x="271850" y="3806389"/>
            <a:ext cx="10059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3"/>
          <p:cNvSpPr/>
          <p:nvPr/>
        </p:nvSpPr>
        <p:spPr>
          <a:xfrm>
            <a:off x="1369125" y="3011949"/>
            <a:ext cx="16458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lang="e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1" lang="e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citas_pacientes</a:t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3"/>
          <p:cNvSpPr/>
          <p:nvPr/>
        </p:nvSpPr>
        <p:spPr>
          <a:xfrm>
            <a:off x="3106300" y="3897800"/>
            <a:ext cx="58755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Consulta la disponibilidad de citas validando al doctor llamando al servicio autenticación</a:t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3"/>
          <p:cNvSpPr/>
          <p:nvPr/>
        </p:nvSpPr>
        <p:spPr>
          <a:xfrm>
            <a:off x="1408146" y="2379326"/>
            <a:ext cx="15189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Crea un cita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/>
          <p:nvPr/>
        </p:nvSpPr>
        <p:spPr>
          <a:xfrm>
            <a:off x="1408150" y="4051800"/>
            <a:ext cx="19914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Muestra horarios disponibles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3"/>
          <p:cNvSpPr/>
          <p:nvPr/>
        </p:nvSpPr>
        <p:spPr>
          <a:xfrm>
            <a:off x="1369125" y="3774170"/>
            <a:ext cx="1645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i="0" lang="es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1" lang="es" sz="1200">
                <a:solidFill>
                  <a:schemeClr val="dk1"/>
                </a:solidFill>
              </a:rPr>
              <a:t>disponibilidad</a:t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3"/>
          <p:cNvSpPr/>
          <p:nvPr/>
        </p:nvSpPr>
        <p:spPr>
          <a:xfrm>
            <a:off x="1439700" y="3264000"/>
            <a:ext cx="19914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Muestra citas agendadas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4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4"/>
          <p:cNvSpPr/>
          <p:nvPr/>
        </p:nvSpPr>
        <p:spPr>
          <a:xfrm>
            <a:off x="365760" y="73152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Endpoints — Servicio </a:t>
            </a:r>
            <a:r>
              <a:rPr b="1" lang="e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Gateway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274300" y="914375"/>
            <a:ext cx="4103700" cy="7230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24"/>
          <p:cNvSpPr/>
          <p:nvPr/>
        </p:nvSpPr>
        <p:spPr>
          <a:xfrm>
            <a:off x="274300" y="914375"/>
            <a:ext cx="1005900" cy="7773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274300" y="932673"/>
            <a:ext cx="10059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1406925" y="932650"/>
            <a:ext cx="21123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i="0" lang="es" sz="14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/usuario/listar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1280200" y="1319050"/>
            <a:ext cx="3006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i="1" lang="es" sz="11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Busca todos los usuarios en la base de datos del servicio autenticación</a:t>
            </a:r>
            <a:endParaRPr i="1" sz="11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4766000" y="914375"/>
            <a:ext cx="4103700" cy="7047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24"/>
          <p:cNvSpPr/>
          <p:nvPr/>
        </p:nvSpPr>
        <p:spPr>
          <a:xfrm>
            <a:off x="4766000" y="914373"/>
            <a:ext cx="1005900" cy="7230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4"/>
          <p:cNvSpPr/>
          <p:nvPr/>
        </p:nvSpPr>
        <p:spPr>
          <a:xfrm>
            <a:off x="4766000" y="932651"/>
            <a:ext cx="10059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4"/>
          <p:cNvSpPr/>
          <p:nvPr/>
        </p:nvSpPr>
        <p:spPr>
          <a:xfrm>
            <a:off x="5863275" y="932660"/>
            <a:ext cx="1645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lang="e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/citas/paciente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4"/>
          <p:cNvSpPr/>
          <p:nvPr/>
        </p:nvSpPr>
        <p:spPr>
          <a:xfrm>
            <a:off x="5863275" y="1259863"/>
            <a:ext cx="2971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Consulta todas las citas registradas y se filtra por el id del paciente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4"/>
          <p:cNvSpPr/>
          <p:nvPr/>
        </p:nvSpPr>
        <p:spPr>
          <a:xfrm>
            <a:off x="274275" y="1892800"/>
            <a:ext cx="8595300" cy="615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4"/>
          <p:cNvSpPr/>
          <p:nvPr/>
        </p:nvSpPr>
        <p:spPr>
          <a:xfrm>
            <a:off x="274275" y="1892800"/>
            <a:ext cx="1005900" cy="6156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4"/>
          <p:cNvSpPr/>
          <p:nvPr/>
        </p:nvSpPr>
        <p:spPr>
          <a:xfrm>
            <a:off x="274100" y="1911402"/>
            <a:ext cx="10059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4"/>
          <p:cNvSpPr/>
          <p:nvPr/>
        </p:nvSpPr>
        <p:spPr>
          <a:xfrm>
            <a:off x="1371576" y="1929875"/>
            <a:ext cx="19509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i="0" lang="es" sz="14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es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usuarios/registro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4"/>
          <p:cNvSpPr/>
          <p:nvPr/>
        </p:nvSpPr>
        <p:spPr>
          <a:xfrm>
            <a:off x="1371571" y="2226551"/>
            <a:ext cx="1518900" cy="25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Crea usuarios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4"/>
          <p:cNvSpPr/>
          <p:nvPr/>
        </p:nvSpPr>
        <p:spPr>
          <a:xfrm>
            <a:off x="269590" y="2726650"/>
            <a:ext cx="8600400" cy="615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4"/>
          <p:cNvSpPr/>
          <p:nvPr/>
        </p:nvSpPr>
        <p:spPr>
          <a:xfrm>
            <a:off x="269590" y="2726650"/>
            <a:ext cx="1006500" cy="6156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4"/>
          <p:cNvSpPr/>
          <p:nvPr/>
        </p:nvSpPr>
        <p:spPr>
          <a:xfrm>
            <a:off x="0" y="2739615"/>
            <a:ext cx="12762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POST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4"/>
          <p:cNvSpPr/>
          <p:nvPr/>
        </p:nvSpPr>
        <p:spPr>
          <a:xfrm>
            <a:off x="1367473" y="2759050"/>
            <a:ext cx="19509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i="0" lang="es" sz="14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es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usuarios login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4"/>
          <p:cNvSpPr/>
          <p:nvPr/>
        </p:nvSpPr>
        <p:spPr>
          <a:xfrm>
            <a:off x="1367482" y="3018175"/>
            <a:ext cx="17577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Autentica al usuario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4"/>
          <p:cNvSpPr/>
          <p:nvPr/>
        </p:nvSpPr>
        <p:spPr>
          <a:xfrm>
            <a:off x="3519225" y="2062513"/>
            <a:ext cx="51945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1" lang="es" sz="12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Recibe</a:t>
            </a: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el</a:t>
            </a:r>
            <a:r>
              <a:rPr b="0" i="1" lang="es" sz="12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nombre, contraseña, correo, teléfono, dirección e inserta los datos en la tabla usuarios</a:t>
            </a: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si todo </a:t>
            </a: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está</a:t>
            </a: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correcto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4"/>
          <p:cNvSpPr/>
          <p:nvPr/>
        </p:nvSpPr>
        <p:spPr>
          <a:xfrm>
            <a:off x="274300" y="3481800"/>
            <a:ext cx="8595300" cy="615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4"/>
          <p:cNvSpPr/>
          <p:nvPr/>
        </p:nvSpPr>
        <p:spPr>
          <a:xfrm>
            <a:off x="274300" y="3512900"/>
            <a:ext cx="1005900" cy="5943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4"/>
          <p:cNvSpPr/>
          <p:nvPr/>
        </p:nvSpPr>
        <p:spPr>
          <a:xfrm>
            <a:off x="274300" y="3652950"/>
            <a:ext cx="1005900" cy="28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4"/>
          <p:cNvSpPr/>
          <p:nvPr/>
        </p:nvSpPr>
        <p:spPr>
          <a:xfrm>
            <a:off x="1371575" y="3555245"/>
            <a:ext cx="16458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i="0" lang="es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1" lang="e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citas/agendar</a:t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3519225" y="3542725"/>
            <a:ext cx="56142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Envia un json con la información de la cita y valida que este completa la información para luego insertar la cita en la base de datos.</a:t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274300" y="4266475"/>
            <a:ext cx="8600400" cy="615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24"/>
          <p:cNvSpPr/>
          <p:nvPr/>
        </p:nvSpPr>
        <p:spPr>
          <a:xfrm>
            <a:off x="274300" y="4266475"/>
            <a:ext cx="1005900" cy="615600"/>
          </a:xfrm>
          <a:prstGeom prst="rect">
            <a:avLst/>
          </a:prstGeom>
          <a:solidFill>
            <a:srgbClr val="10B981"/>
          </a:solidFill>
          <a:ln cap="flat" cmpd="sng" w="12700">
            <a:solidFill>
              <a:srgbClr val="10B9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24"/>
          <p:cNvSpPr/>
          <p:nvPr/>
        </p:nvSpPr>
        <p:spPr>
          <a:xfrm>
            <a:off x="274300" y="4358989"/>
            <a:ext cx="10059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1" i="0" lang="e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4"/>
          <p:cNvSpPr/>
          <p:nvPr/>
        </p:nvSpPr>
        <p:spPr>
          <a:xfrm>
            <a:off x="1371575" y="4266475"/>
            <a:ext cx="22440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lang="e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/citas/disponibilidad</a:t>
            </a:r>
            <a:endParaRPr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4"/>
          <p:cNvSpPr/>
          <p:nvPr/>
        </p:nvSpPr>
        <p:spPr>
          <a:xfrm>
            <a:off x="3615575" y="4362625"/>
            <a:ext cx="41037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Consulta la disponibilidad de citas validando al doctor llamando al servicio autenticación</a:t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1458832" y="4625775"/>
            <a:ext cx="22440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Muestra horarios disponibles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4"/>
          <p:cNvSpPr/>
          <p:nvPr/>
        </p:nvSpPr>
        <p:spPr>
          <a:xfrm>
            <a:off x="1458832" y="3821975"/>
            <a:ext cx="17946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50"/>
              <a:buFont typeface="Calibri"/>
              <a:buNone/>
            </a:pPr>
            <a:r>
              <a:rPr lang="es" sz="115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Crea citas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4"/>
          <p:cNvSpPr/>
          <p:nvPr/>
        </p:nvSpPr>
        <p:spPr>
          <a:xfrm>
            <a:off x="3519225" y="2835050"/>
            <a:ext cx="5133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b="0" i="1" lang="es" sz="12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Recibe correo y contraseña </a:t>
            </a: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luego</a:t>
            </a:r>
            <a:r>
              <a:rPr b="0" i="1" lang="es" sz="12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1" lang="es" sz="1200" u="none" cap="none" strike="noStrik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onsulta tabla usuarios </a:t>
            </a: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y si los datos son correctos retorna mensaje exitoso, de lo contrario indica que </a:t>
            </a: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sucedió</a:t>
            </a: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mal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2E8F0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5"/>
          <p:cNvSpPr/>
          <p:nvPr/>
        </p:nvSpPr>
        <p:spPr>
          <a:xfrm>
            <a:off x="0" y="0"/>
            <a:ext cx="9144000" cy="6219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5"/>
          <p:cNvSpPr/>
          <p:nvPr/>
        </p:nvSpPr>
        <p:spPr>
          <a:xfrm>
            <a:off x="365750" y="73150"/>
            <a:ext cx="8412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s" sz="2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Flujo de interacción </a:t>
            </a:r>
            <a:endParaRPr b="1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583925" y="648600"/>
            <a:ext cx="4114800" cy="44949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5"/>
          <p:cNvSpPr/>
          <p:nvPr/>
        </p:nvSpPr>
        <p:spPr>
          <a:xfrm>
            <a:off x="685250" y="1597085"/>
            <a:ext cx="396900" cy="396900"/>
          </a:xfrm>
          <a:prstGeom prst="ellipse">
            <a:avLst/>
          </a:prstGeom>
          <a:solidFill>
            <a:srgbClr val="0D9488"/>
          </a:solidFill>
          <a:ln cap="flat" cmpd="sng" w="145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75" lIns="104475" spcFirstLastPara="1" rIns="104475" wrap="square" tIns="104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96" name="Google Shape;296;p25"/>
          <p:cNvSpPr/>
          <p:nvPr/>
        </p:nvSpPr>
        <p:spPr>
          <a:xfrm>
            <a:off x="685250" y="985700"/>
            <a:ext cx="396900" cy="396900"/>
          </a:xfrm>
          <a:prstGeom prst="ellipse">
            <a:avLst/>
          </a:prstGeom>
          <a:solidFill>
            <a:srgbClr val="0D9488"/>
          </a:solidFill>
          <a:ln cap="flat" cmpd="sng" w="145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75" lIns="104475" spcFirstLastPara="1" rIns="104475" wrap="square" tIns="104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297" name="Google Shape;297;p25"/>
          <p:cNvSpPr/>
          <p:nvPr/>
        </p:nvSpPr>
        <p:spPr>
          <a:xfrm>
            <a:off x="1151210" y="980521"/>
            <a:ext cx="338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usuario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1151210" y="1111409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i="1" lang="e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GET /citas/disponibilidad?id_doctor=1&amp;fecha=2026-05-15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736975" y="1091393"/>
            <a:ext cx="179400" cy="14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225" lIns="104475" spcFirstLastPara="1" rIns="104475" wrap="square" tIns="52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71"/>
              <a:buFont typeface="Calibri"/>
              <a:buNone/>
            </a:pPr>
            <a:r>
              <a:rPr b="1" i="0" lang="es" sz="137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p25"/>
          <p:cNvCxnSpPr/>
          <p:nvPr/>
        </p:nvCxnSpPr>
        <p:spPr>
          <a:xfrm>
            <a:off x="890601" y="1400073"/>
            <a:ext cx="0" cy="230100"/>
          </a:xfrm>
          <a:prstGeom prst="straightConnector1">
            <a:avLst/>
          </a:prstGeom>
          <a:noFill/>
          <a:ln cap="flat" cmpd="sng" w="21750">
            <a:solidFill>
              <a:srgbClr val="0D948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01" name="Google Shape;301;p25"/>
          <p:cNvSpPr/>
          <p:nvPr/>
        </p:nvSpPr>
        <p:spPr>
          <a:xfrm>
            <a:off x="732513" y="1669733"/>
            <a:ext cx="188100" cy="21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225" lIns="104475" spcFirstLastPara="1" rIns="104475" wrap="square" tIns="52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71"/>
              <a:buFont typeface="Calibri"/>
              <a:buNone/>
            </a:pPr>
            <a:r>
              <a:rPr b="1" i="0" lang="es" sz="137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1171210" y="1614502"/>
            <a:ext cx="338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Gateway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1155160" y="1729252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i="1" lang="e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Recibe la solicitud → La redirige al servicio de citas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4" name="Google Shape;304;p25"/>
          <p:cNvCxnSpPr/>
          <p:nvPr/>
        </p:nvCxnSpPr>
        <p:spPr>
          <a:xfrm>
            <a:off x="883791" y="1961818"/>
            <a:ext cx="0" cy="230100"/>
          </a:xfrm>
          <a:prstGeom prst="straightConnector1">
            <a:avLst/>
          </a:prstGeom>
          <a:noFill/>
          <a:ln cap="flat" cmpd="sng" w="21750">
            <a:solidFill>
              <a:srgbClr val="0D948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05" name="Google Shape;305;p25"/>
          <p:cNvSpPr/>
          <p:nvPr/>
        </p:nvSpPr>
        <p:spPr>
          <a:xfrm>
            <a:off x="685250" y="2173081"/>
            <a:ext cx="396900" cy="396900"/>
          </a:xfrm>
          <a:prstGeom prst="ellipse">
            <a:avLst/>
          </a:prstGeom>
          <a:solidFill>
            <a:srgbClr val="0D9488"/>
          </a:solidFill>
          <a:ln cap="flat" cmpd="sng" w="145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75" lIns="104475" spcFirstLastPara="1" rIns="104475" wrap="square" tIns="104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06" name="Google Shape;306;p25"/>
          <p:cNvSpPr/>
          <p:nvPr/>
        </p:nvSpPr>
        <p:spPr>
          <a:xfrm>
            <a:off x="736971" y="2230797"/>
            <a:ext cx="1986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225" lIns="104475" spcFirstLastPara="1" rIns="104475" wrap="square" tIns="52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71"/>
              <a:buFont typeface="Calibri"/>
              <a:buNone/>
            </a:pPr>
            <a:r>
              <a:rPr b="1" i="0" lang="es" sz="137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1171210" y="2164098"/>
            <a:ext cx="338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Servicio Citas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1155150" y="2271412"/>
            <a:ext cx="33834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i="1" lang="e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Valida</a:t>
            </a:r>
            <a:r>
              <a:rPr i="1" lang="e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 doctor → Consulta a autenticación</a:t>
            </a:r>
            <a:endParaRPr i="1" sz="10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9" name="Google Shape;309;p25"/>
          <p:cNvCxnSpPr/>
          <p:nvPr/>
        </p:nvCxnSpPr>
        <p:spPr>
          <a:xfrm>
            <a:off x="883791" y="2548530"/>
            <a:ext cx="0" cy="230100"/>
          </a:xfrm>
          <a:prstGeom prst="straightConnector1">
            <a:avLst/>
          </a:prstGeom>
          <a:noFill/>
          <a:ln cap="flat" cmpd="sng" w="21750">
            <a:solidFill>
              <a:srgbClr val="0D948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10" name="Google Shape;310;p25"/>
          <p:cNvSpPr/>
          <p:nvPr/>
        </p:nvSpPr>
        <p:spPr>
          <a:xfrm>
            <a:off x="685250" y="2755989"/>
            <a:ext cx="396900" cy="396900"/>
          </a:xfrm>
          <a:prstGeom prst="ellipse">
            <a:avLst/>
          </a:prstGeom>
          <a:solidFill>
            <a:srgbClr val="0D9488"/>
          </a:solidFill>
          <a:ln cap="flat" cmpd="sng" w="145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75" lIns="104475" spcFirstLastPara="1" rIns="104475" wrap="square" tIns="104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5"/>
          <p:cNvSpPr/>
          <p:nvPr/>
        </p:nvSpPr>
        <p:spPr>
          <a:xfrm>
            <a:off x="1184735" y="2687291"/>
            <a:ext cx="338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Servicio Autenticación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1178235" y="2825288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i="1" lang="e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Verifica usuario → Confirma rol de doctor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731942" y="2856462"/>
            <a:ext cx="1794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225" lIns="104475" spcFirstLastPara="1" rIns="104475" wrap="square" tIns="52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71"/>
              <a:buFont typeface="Calibri"/>
              <a:buNone/>
            </a:pPr>
            <a:r>
              <a:rPr b="1" i="0" lang="es" sz="1371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4" name="Google Shape;314;p25"/>
          <p:cNvCxnSpPr/>
          <p:nvPr/>
        </p:nvCxnSpPr>
        <p:spPr>
          <a:xfrm>
            <a:off x="883600" y="3132696"/>
            <a:ext cx="300" cy="246900"/>
          </a:xfrm>
          <a:prstGeom prst="straightConnector1">
            <a:avLst/>
          </a:prstGeom>
          <a:noFill/>
          <a:ln cap="flat" cmpd="sng" w="21750">
            <a:solidFill>
              <a:srgbClr val="0D948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15" name="Google Shape;315;p25"/>
          <p:cNvSpPr/>
          <p:nvPr/>
        </p:nvSpPr>
        <p:spPr>
          <a:xfrm>
            <a:off x="1163167" y="3210477"/>
            <a:ext cx="338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Servicio Citas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1178227" y="3418961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i="1" lang="e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Consulta BD → Filtra por doctor y fecha → Calcula horarios disponibles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8929" y="1208648"/>
            <a:ext cx="3006071" cy="300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5"/>
          <p:cNvSpPr/>
          <p:nvPr/>
        </p:nvSpPr>
        <p:spPr>
          <a:xfrm>
            <a:off x="583925" y="620003"/>
            <a:ext cx="3840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B8A6"/>
              </a:buClr>
              <a:buSzPts val="1400"/>
              <a:buFont typeface="Calibri"/>
              <a:buNone/>
            </a:pPr>
            <a:r>
              <a:rPr b="1" i="0" lang="es" sz="1400" u="none" cap="none" strike="noStrike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Flujo de </a:t>
            </a:r>
            <a:r>
              <a:rPr b="1" lang="es">
                <a:solidFill>
                  <a:srgbClr val="14B8A6"/>
                </a:solidFill>
                <a:latin typeface="Calibri"/>
                <a:ea typeface="Calibri"/>
                <a:cs typeface="Calibri"/>
                <a:sym typeface="Calibri"/>
              </a:rPr>
              <a:t>disponibilidad de un doctor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1184715" y="3852608"/>
            <a:ext cx="338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Respuesta interna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685257" y="3960441"/>
            <a:ext cx="396900" cy="366000"/>
          </a:xfrm>
          <a:prstGeom prst="ellipse">
            <a:avLst/>
          </a:prstGeom>
          <a:solidFill>
            <a:srgbClr val="0D9488"/>
          </a:solidFill>
          <a:ln cap="flat" cmpd="sng" w="145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75" lIns="104475" spcFirstLastPara="1" rIns="104475" wrap="square" tIns="104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/>
          <p:nvPr/>
        </p:nvSpPr>
        <p:spPr>
          <a:xfrm>
            <a:off x="1184726" y="4042559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i="1" lang="e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Consulta BD → Filtra por doctor y fecha → Calcula horarios disponibles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/>
          <p:nvPr/>
        </p:nvSpPr>
        <p:spPr>
          <a:xfrm>
            <a:off x="1184717" y="4539190"/>
            <a:ext cx="3383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Respuesta final 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/>
          <p:nvPr/>
        </p:nvSpPr>
        <p:spPr>
          <a:xfrm>
            <a:off x="1157676" y="4666174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i="1" lang="e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Gateway → responde al usuario (JSON + 200 OK)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4" name="Google Shape;324;p25"/>
          <p:cNvCxnSpPr/>
          <p:nvPr/>
        </p:nvCxnSpPr>
        <p:spPr>
          <a:xfrm>
            <a:off x="883600" y="3748046"/>
            <a:ext cx="300" cy="246900"/>
          </a:xfrm>
          <a:prstGeom prst="straightConnector1">
            <a:avLst/>
          </a:prstGeom>
          <a:noFill/>
          <a:ln cap="flat" cmpd="sng" w="21750">
            <a:solidFill>
              <a:srgbClr val="0D948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25" name="Google Shape;325;p25"/>
          <p:cNvSpPr/>
          <p:nvPr/>
        </p:nvSpPr>
        <p:spPr>
          <a:xfrm>
            <a:off x="685250" y="3351008"/>
            <a:ext cx="396900" cy="396900"/>
          </a:xfrm>
          <a:prstGeom prst="ellipse">
            <a:avLst/>
          </a:prstGeom>
          <a:solidFill>
            <a:srgbClr val="0D9488"/>
          </a:solidFill>
          <a:ln cap="flat" cmpd="sng" w="145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75" lIns="104475" spcFirstLastPara="1" rIns="104475" wrap="square" tIns="104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26" name="Google Shape;326;p25"/>
          <p:cNvSpPr/>
          <p:nvPr/>
        </p:nvSpPr>
        <p:spPr>
          <a:xfrm>
            <a:off x="731942" y="3433138"/>
            <a:ext cx="1794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225" lIns="104475" spcFirstLastPara="1" rIns="104475" wrap="square" tIns="52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71"/>
              <a:buFont typeface="Calibri"/>
              <a:buNone/>
            </a:pPr>
            <a:r>
              <a:rPr b="1" lang="es" sz="137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692079" y="4538677"/>
            <a:ext cx="396900" cy="396900"/>
          </a:xfrm>
          <a:prstGeom prst="ellipse">
            <a:avLst/>
          </a:prstGeom>
          <a:solidFill>
            <a:srgbClr val="0D9488"/>
          </a:solidFill>
          <a:ln cap="flat" cmpd="sng" w="145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4475" lIns="104475" spcFirstLastPara="1" rIns="104475" wrap="square" tIns="104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sp>
        <p:nvSpPr>
          <p:cNvPr id="328" name="Google Shape;328;p25"/>
          <p:cNvSpPr/>
          <p:nvPr/>
        </p:nvSpPr>
        <p:spPr>
          <a:xfrm>
            <a:off x="746571" y="4638207"/>
            <a:ext cx="1794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225" lIns="104475" spcFirstLastPara="1" rIns="104475" wrap="square" tIns="52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71"/>
              <a:buFont typeface="Calibri"/>
              <a:buNone/>
            </a:pPr>
            <a:r>
              <a:rPr b="1" lang="es" sz="137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3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p25"/>
          <p:cNvCxnSpPr/>
          <p:nvPr/>
        </p:nvCxnSpPr>
        <p:spPr>
          <a:xfrm>
            <a:off x="890429" y="4317135"/>
            <a:ext cx="300" cy="246900"/>
          </a:xfrm>
          <a:prstGeom prst="straightConnector1">
            <a:avLst/>
          </a:prstGeom>
          <a:noFill/>
          <a:ln cap="flat" cmpd="sng" w="21750">
            <a:solidFill>
              <a:srgbClr val="0D9488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30" name="Google Shape;330;p25"/>
          <p:cNvSpPr/>
          <p:nvPr/>
        </p:nvSpPr>
        <p:spPr>
          <a:xfrm>
            <a:off x="731942" y="4027772"/>
            <a:ext cx="179400" cy="18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2225" lIns="104475" spcFirstLastPara="1" rIns="104475" wrap="square" tIns="522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71"/>
              <a:buFont typeface="Calibri"/>
              <a:buNone/>
            </a:pPr>
            <a:r>
              <a:rPr b="1" lang="es" sz="137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6" name="Google Shape;336;p26"/>
          <p:cNvGrpSpPr/>
          <p:nvPr/>
        </p:nvGrpSpPr>
        <p:grpSpPr>
          <a:xfrm>
            <a:off x="5669475" y="1771789"/>
            <a:ext cx="3200121" cy="1366914"/>
            <a:chOff x="274300" y="1757800"/>
            <a:chExt cx="3497400" cy="3124375"/>
          </a:xfrm>
        </p:grpSpPr>
        <p:sp>
          <p:nvSpPr>
            <p:cNvPr id="337" name="Google Shape;337;p26"/>
            <p:cNvSpPr/>
            <p:nvPr/>
          </p:nvSpPr>
          <p:spPr>
            <a:xfrm>
              <a:off x="274300" y="1757975"/>
              <a:ext cx="3497400" cy="31242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80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26"/>
            <p:cNvSpPr/>
            <p:nvPr/>
          </p:nvSpPr>
          <p:spPr>
            <a:xfrm>
              <a:off x="274300" y="1757800"/>
              <a:ext cx="29400" cy="3124200"/>
            </a:xfrm>
            <a:prstGeom prst="rect">
              <a:avLst/>
            </a:prstGeom>
            <a:solidFill>
              <a:srgbClr val="F59E0B"/>
            </a:solidFill>
            <a:ln cap="flat" cmpd="sng" w="12700">
              <a:solidFill>
                <a:srgbClr val="F59E0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9" name="Google Shape;339;p26"/>
          <p:cNvGrpSpPr/>
          <p:nvPr/>
        </p:nvGrpSpPr>
        <p:grpSpPr>
          <a:xfrm>
            <a:off x="267000" y="914535"/>
            <a:ext cx="8602600" cy="534586"/>
            <a:chOff x="267000" y="914535"/>
            <a:chExt cx="8602600" cy="534586"/>
          </a:xfrm>
        </p:grpSpPr>
        <p:sp>
          <p:nvSpPr>
            <p:cNvPr id="340" name="Google Shape;340;p26"/>
            <p:cNvSpPr/>
            <p:nvPr/>
          </p:nvSpPr>
          <p:spPr>
            <a:xfrm>
              <a:off x="274300" y="914535"/>
              <a:ext cx="8595300" cy="534586"/>
            </a:xfrm>
            <a:prstGeom prst="rect">
              <a:avLst/>
            </a:prstGeom>
            <a:solidFill>
              <a:schemeClr val="lt2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80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6"/>
            <p:cNvSpPr/>
            <p:nvPr/>
          </p:nvSpPr>
          <p:spPr>
            <a:xfrm>
              <a:off x="267000" y="923984"/>
              <a:ext cx="36900" cy="515700"/>
            </a:xfrm>
            <a:prstGeom prst="rect">
              <a:avLst/>
            </a:prstGeom>
            <a:solidFill>
              <a:srgbClr val="3B82F6"/>
            </a:solidFill>
            <a:ln cap="flat" cmpd="sng" w="1270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2" name="Google Shape;342;p26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6"/>
          <p:cNvSpPr/>
          <p:nvPr/>
        </p:nvSpPr>
        <p:spPr>
          <a:xfrm>
            <a:off x="365760" y="73152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Configuración de Entorno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4" name="Google Shape;344;p26"/>
          <p:cNvGrpSpPr/>
          <p:nvPr/>
        </p:nvGrpSpPr>
        <p:grpSpPr>
          <a:xfrm>
            <a:off x="274314" y="1757800"/>
            <a:ext cx="5275828" cy="3124375"/>
            <a:chOff x="274300" y="1757800"/>
            <a:chExt cx="3497400" cy="3124375"/>
          </a:xfrm>
        </p:grpSpPr>
        <p:sp>
          <p:nvSpPr>
            <p:cNvPr id="345" name="Google Shape;345;p26"/>
            <p:cNvSpPr/>
            <p:nvPr/>
          </p:nvSpPr>
          <p:spPr>
            <a:xfrm>
              <a:off x="274300" y="1757975"/>
              <a:ext cx="3497400" cy="31242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80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6"/>
            <p:cNvSpPr/>
            <p:nvPr/>
          </p:nvSpPr>
          <p:spPr>
            <a:xfrm>
              <a:off x="274300" y="1757800"/>
              <a:ext cx="29400" cy="3124200"/>
            </a:xfrm>
            <a:prstGeom prst="rect">
              <a:avLst/>
            </a:prstGeom>
            <a:solidFill>
              <a:srgbClr val="10B981"/>
            </a:solidFill>
            <a:ln cap="flat" cmpd="sng" w="12700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7" name="Google Shape;347;p26"/>
          <p:cNvSpPr/>
          <p:nvPr/>
        </p:nvSpPr>
        <p:spPr>
          <a:xfrm>
            <a:off x="1265925" y="1866725"/>
            <a:ext cx="22440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lang="e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Archivo centralizado </a:t>
            </a:r>
            <a:r>
              <a:rPr b="1" lang="es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.env</a:t>
            </a:r>
            <a:endParaRPr i="0" u="none" cap="none" strike="noStrike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6"/>
          <p:cNvSpPr/>
          <p:nvPr/>
        </p:nvSpPr>
        <p:spPr>
          <a:xfrm>
            <a:off x="1265925" y="2217800"/>
            <a:ext cx="41037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Uso de un único archivo .env para alimentar los servicios de </a:t>
            </a:r>
            <a:r>
              <a:rPr b="1"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Autenticación</a:t>
            </a: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1"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Citas</a:t>
            </a: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t/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6"/>
          <p:cNvSpPr/>
          <p:nvPr/>
        </p:nvSpPr>
        <p:spPr>
          <a:xfrm>
            <a:off x="465975" y="953838"/>
            <a:ext cx="4443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lang="es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Gestión de variables y Persistencia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0" name="Google Shape;3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518250" y="2603250"/>
            <a:ext cx="4644225" cy="2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250" y="1904225"/>
            <a:ext cx="594300" cy="59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6"/>
          <p:cNvSpPr/>
          <p:nvPr/>
        </p:nvSpPr>
        <p:spPr>
          <a:xfrm>
            <a:off x="1265925" y="2859183"/>
            <a:ext cx="22440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lang="e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Abstracción de datos</a:t>
            </a:r>
            <a:endParaRPr i="0" u="none" cap="none" strike="noStrike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6"/>
          <p:cNvSpPr/>
          <p:nvPr/>
        </p:nvSpPr>
        <p:spPr>
          <a:xfrm>
            <a:off x="1265925" y="3210258"/>
            <a:ext cx="41037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Permite cambiar contraseñas y nombres de las bases de datos sin modificar el código fuente.</a:t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t/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4" name="Google Shape;35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518250" y="3595708"/>
            <a:ext cx="4644225" cy="2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959" y="2934325"/>
            <a:ext cx="474882" cy="47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26"/>
          <p:cNvSpPr/>
          <p:nvPr/>
        </p:nvSpPr>
        <p:spPr>
          <a:xfrm>
            <a:off x="1265925" y="3851650"/>
            <a:ext cx="39552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lang="e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Persistencia</a:t>
            </a:r>
            <a:r>
              <a:rPr b="1" lang="e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 de datos - </a:t>
            </a:r>
            <a:r>
              <a:rPr b="1" lang="e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Volúmenes</a:t>
            </a:r>
            <a:endParaRPr i="0" u="none" cap="none" strike="noStrike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6"/>
          <p:cNvSpPr/>
          <p:nvPr/>
        </p:nvSpPr>
        <p:spPr>
          <a:xfrm>
            <a:off x="1265925" y="4202721"/>
            <a:ext cx="41037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Los </a:t>
            </a: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volúmenes</a:t>
            </a: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de Docker garantizan que los datos sobrevivan a reinicios y recreaciones de contenedores.</a:t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t/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8" name="Google Shape;358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7950" y="3886900"/>
            <a:ext cx="534600" cy="534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70650" y="2066600"/>
            <a:ext cx="777300" cy="7773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6"/>
          <p:cNvSpPr/>
          <p:nvPr/>
        </p:nvSpPr>
        <p:spPr>
          <a:xfrm>
            <a:off x="6900000" y="1904125"/>
            <a:ext cx="16989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lang="e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db_autenticacion</a:t>
            </a:r>
            <a:endParaRPr i="0" u="none" cap="none" strike="noStrike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6"/>
          <p:cNvSpPr/>
          <p:nvPr/>
        </p:nvSpPr>
        <p:spPr>
          <a:xfrm>
            <a:off x="6871900" y="2232913"/>
            <a:ext cx="1997700" cy="8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Garantiza que los datos personales de los  usuarios no se pierdan al reiniciar contenedores. </a:t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t/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2" name="Google Shape;362;p26"/>
          <p:cNvGrpSpPr/>
          <p:nvPr/>
        </p:nvGrpSpPr>
        <p:grpSpPr>
          <a:xfrm>
            <a:off x="5669475" y="3503952"/>
            <a:ext cx="3200121" cy="1366914"/>
            <a:chOff x="274300" y="1757800"/>
            <a:chExt cx="3497400" cy="3124375"/>
          </a:xfrm>
        </p:grpSpPr>
        <p:sp>
          <p:nvSpPr>
            <p:cNvPr id="363" name="Google Shape;363;p26"/>
            <p:cNvSpPr/>
            <p:nvPr/>
          </p:nvSpPr>
          <p:spPr>
            <a:xfrm>
              <a:off x="274300" y="1757975"/>
              <a:ext cx="3497400" cy="31242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80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6"/>
            <p:cNvSpPr/>
            <p:nvPr/>
          </p:nvSpPr>
          <p:spPr>
            <a:xfrm>
              <a:off x="274300" y="1757800"/>
              <a:ext cx="29400" cy="3124200"/>
            </a:xfrm>
            <a:prstGeom prst="rect">
              <a:avLst/>
            </a:prstGeom>
            <a:solidFill>
              <a:srgbClr val="F59E0B"/>
            </a:solidFill>
            <a:ln cap="flat" cmpd="sng" w="12700">
              <a:solidFill>
                <a:srgbClr val="F59E0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5" name="Google Shape;365;p26"/>
          <p:cNvSpPr/>
          <p:nvPr/>
        </p:nvSpPr>
        <p:spPr>
          <a:xfrm>
            <a:off x="6900000" y="3636275"/>
            <a:ext cx="15804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lang="e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db_citas</a:t>
            </a:r>
            <a:endParaRPr i="0" u="none" cap="none" strike="noStrike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6"/>
          <p:cNvSpPr/>
          <p:nvPr/>
        </p:nvSpPr>
        <p:spPr>
          <a:xfrm>
            <a:off x="6946450" y="4015325"/>
            <a:ext cx="1848600" cy="7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t/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t/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Preserva citas médicas, </a:t>
            </a: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y disponibilidad de forma permanente. </a:t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t/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t/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p26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70650" y="3769475"/>
            <a:ext cx="777300" cy="77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3" name="Google Shape;373;p27"/>
          <p:cNvGrpSpPr/>
          <p:nvPr/>
        </p:nvGrpSpPr>
        <p:grpSpPr>
          <a:xfrm>
            <a:off x="267000" y="914535"/>
            <a:ext cx="8602600" cy="534600"/>
            <a:chOff x="267000" y="914535"/>
            <a:chExt cx="8602600" cy="534600"/>
          </a:xfrm>
        </p:grpSpPr>
        <p:sp>
          <p:nvSpPr>
            <p:cNvPr id="374" name="Google Shape;374;p27"/>
            <p:cNvSpPr/>
            <p:nvPr/>
          </p:nvSpPr>
          <p:spPr>
            <a:xfrm>
              <a:off x="274300" y="914535"/>
              <a:ext cx="8595300" cy="534600"/>
            </a:xfrm>
            <a:prstGeom prst="rect">
              <a:avLst/>
            </a:prstGeom>
            <a:solidFill>
              <a:schemeClr val="lt2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80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7"/>
            <p:cNvSpPr/>
            <p:nvPr/>
          </p:nvSpPr>
          <p:spPr>
            <a:xfrm>
              <a:off x="267000" y="923984"/>
              <a:ext cx="36900" cy="515700"/>
            </a:xfrm>
            <a:prstGeom prst="rect">
              <a:avLst/>
            </a:prstGeom>
            <a:solidFill>
              <a:srgbClr val="3B82F6"/>
            </a:solidFill>
            <a:ln cap="flat" cmpd="sng" w="1270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6" name="Google Shape;376;p27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7"/>
          <p:cNvSpPr/>
          <p:nvPr/>
        </p:nvSpPr>
        <p:spPr>
          <a:xfrm>
            <a:off x="365760" y="73152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Variables de Entorno por Servicio</a:t>
            </a:r>
            <a:r>
              <a:rPr b="1" lang="e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8" name="Google Shape;378;p27"/>
          <p:cNvGrpSpPr/>
          <p:nvPr/>
        </p:nvGrpSpPr>
        <p:grpSpPr>
          <a:xfrm>
            <a:off x="203499" y="1738294"/>
            <a:ext cx="8602436" cy="1274732"/>
            <a:chOff x="417125" y="1756300"/>
            <a:chExt cx="5133025" cy="3125875"/>
          </a:xfrm>
        </p:grpSpPr>
        <p:sp>
          <p:nvSpPr>
            <p:cNvPr id="379" name="Google Shape;379;p27"/>
            <p:cNvSpPr/>
            <p:nvPr/>
          </p:nvSpPr>
          <p:spPr>
            <a:xfrm>
              <a:off x="417150" y="1757975"/>
              <a:ext cx="5133000" cy="3124200"/>
            </a:xfrm>
            <a:prstGeom prst="rect">
              <a:avLst/>
            </a:prstGeom>
            <a:solidFill>
              <a:srgbClr val="FFFFFF"/>
            </a:solidFill>
            <a:ln cap="flat" cmpd="sng" w="4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6150" rotWithShape="0" algn="bl" dir="8100000" dist="13556">
                <a:srgbClr val="000000">
                  <a:alpha val="18040"/>
                </a:srgbClr>
              </a:outerShdw>
            </a:effectLst>
          </p:spPr>
          <p:txBody>
            <a:bodyPr anchorCtr="0" anchor="ctr" bIns="32550" lIns="32550" spcFirstLastPara="1" rIns="32550" wrap="square" tIns="32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98"/>
            </a:p>
          </p:txBody>
        </p:sp>
        <p:sp>
          <p:nvSpPr>
            <p:cNvPr id="380" name="Google Shape;380;p27"/>
            <p:cNvSpPr/>
            <p:nvPr/>
          </p:nvSpPr>
          <p:spPr>
            <a:xfrm rot="5400000">
              <a:off x="2956475" y="-783050"/>
              <a:ext cx="43200" cy="5121900"/>
            </a:xfrm>
            <a:prstGeom prst="rect">
              <a:avLst/>
            </a:prstGeom>
            <a:solidFill>
              <a:srgbClr val="10B981"/>
            </a:solidFill>
            <a:ln cap="flat" cmpd="sng" w="4525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550" lIns="32550" spcFirstLastPara="1" rIns="32550" wrap="square" tIns="32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98"/>
            </a:p>
          </p:txBody>
        </p:sp>
      </p:grpSp>
      <p:sp>
        <p:nvSpPr>
          <p:cNvPr id="381" name="Google Shape;381;p27"/>
          <p:cNvSpPr/>
          <p:nvPr/>
        </p:nvSpPr>
        <p:spPr>
          <a:xfrm>
            <a:off x="365750" y="1808825"/>
            <a:ext cx="31500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lang="e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Variables de infraestructura</a:t>
            </a:r>
            <a:endParaRPr i="0" u="none" cap="none" strike="noStrike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7"/>
          <p:cNvSpPr/>
          <p:nvPr/>
        </p:nvSpPr>
        <p:spPr>
          <a:xfrm>
            <a:off x="203500" y="2145050"/>
            <a:ext cx="86025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Definen la creación y segurdad de los contenedores de base de datos</a:t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7"/>
          <p:cNvSpPr/>
          <p:nvPr/>
        </p:nvSpPr>
        <p:spPr>
          <a:xfrm>
            <a:off x="465975" y="953838"/>
            <a:ext cx="4443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lang="es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Variables encontradas en </a:t>
            </a:r>
            <a:r>
              <a:rPr b="1" lang="es">
                <a:solidFill>
                  <a:srgbClr val="A64D79"/>
                </a:solidFill>
                <a:latin typeface="Consolas"/>
                <a:ea typeface="Consolas"/>
                <a:cs typeface="Consolas"/>
                <a:sym typeface="Consolas"/>
              </a:rPr>
              <a:t>.env</a:t>
            </a:r>
            <a:endParaRPr b="0" i="0" sz="1400" u="none" cap="none" strike="noStrike">
              <a:solidFill>
                <a:srgbClr val="A64D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7"/>
          <p:cNvSpPr/>
          <p:nvPr/>
        </p:nvSpPr>
        <p:spPr>
          <a:xfrm>
            <a:off x="526050" y="2534325"/>
            <a:ext cx="26886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Char char="●"/>
            </a:pPr>
            <a:r>
              <a:rPr b="1" lang="es" sz="1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AUTH_MYSQL_DATABASE</a:t>
            </a:r>
            <a:endParaRPr b="1" sz="13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Char char="●"/>
            </a:pPr>
            <a:r>
              <a:rPr b="1" lang="es" sz="1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AUTH_MYSQL_PASSWORD</a:t>
            </a:r>
            <a:endParaRPr b="1" sz="13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7"/>
          <p:cNvSpPr/>
          <p:nvPr/>
        </p:nvSpPr>
        <p:spPr>
          <a:xfrm>
            <a:off x="5319075" y="2534325"/>
            <a:ext cx="25986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Char char="●"/>
            </a:pPr>
            <a:r>
              <a:rPr b="1" lang="es" sz="1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CITA_MYSQL_DATABASE</a:t>
            </a:r>
            <a:endParaRPr b="1" sz="13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Char char="●"/>
            </a:pPr>
            <a:r>
              <a:rPr b="1" lang="es" sz="1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CITA_MYSQL_PASSWORD</a:t>
            </a:r>
            <a:endParaRPr b="1" sz="13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6" name="Google Shape;386;p27"/>
          <p:cNvGrpSpPr/>
          <p:nvPr/>
        </p:nvGrpSpPr>
        <p:grpSpPr>
          <a:xfrm>
            <a:off x="203449" y="3169071"/>
            <a:ext cx="8602436" cy="1848330"/>
            <a:chOff x="417125" y="1756300"/>
            <a:chExt cx="5133025" cy="3125875"/>
          </a:xfrm>
        </p:grpSpPr>
        <p:sp>
          <p:nvSpPr>
            <p:cNvPr id="387" name="Google Shape;387;p27"/>
            <p:cNvSpPr/>
            <p:nvPr/>
          </p:nvSpPr>
          <p:spPr>
            <a:xfrm>
              <a:off x="417150" y="1757975"/>
              <a:ext cx="5133000" cy="3124200"/>
            </a:xfrm>
            <a:prstGeom prst="rect">
              <a:avLst/>
            </a:prstGeom>
            <a:solidFill>
              <a:srgbClr val="FFFFFF"/>
            </a:solidFill>
            <a:ln cap="flat" cmpd="sng" w="4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6150" rotWithShape="0" algn="bl" dir="8100000" dist="13556">
                <a:srgbClr val="000000">
                  <a:alpha val="18040"/>
                </a:srgbClr>
              </a:outerShdw>
            </a:effectLst>
          </p:spPr>
          <p:txBody>
            <a:bodyPr anchorCtr="0" anchor="ctr" bIns="32550" lIns="32550" spcFirstLastPara="1" rIns="32550" wrap="square" tIns="32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98"/>
            </a:p>
          </p:txBody>
        </p:sp>
        <p:sp>
          <p:nvSpPr>
            <p:cNvPr id="388" name="Google Shape;388;p27"/>
            <p:cNvSpPr/>
            <p:nvPr/>
          </p:nvSpPr>
          <p:spPr>
            <a:xfrm rot="5400000">
              <a:off x="2956475" y="-783050"/>
              <a:ext cx="43200" cy="5121900"/>
            </a:xfrm>
            <a:prstGeom prst="rect">
              <a:avLst/>
            </a:prstGeom>
            <a:solidFill>
              <a:srgbClr val="10B981"/>
            </a:solidFill>
            <a:ln cap="flat" cmpd="sng" w="4525">
              <a:solidFill>
                <a:srgbClr val="10B9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32550" lIns="32550" spcFirstLastPara="1" rIns="32550" wrap="square" tIns="32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98"/>
            </a:p>
          </p:txBody>
        </p:sp>
      </p:grpSp>
      <p:sp>
        <p:nvSpPr>
          <p:cNvPr id="389" name="Google Shape;389;p27"/>
          <p:cNvSpPr/>
          <p:nvPr/>
        </p:nvSpPr>
        <p:spPr>
          <a:xfrm>
            <a:off x="365713" y="3239675"/>
            <a:ext cx="31500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lang="e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Variables de Servicios </a:t>
            </a:r>
            <a:endParaRPr i="0" u="none" cap="none" strike="noStrike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7"/>
          <p:cNvSpPr/>
          <p:nvPr/>
        </p:nvSpPr>
        <p:spPr>
          <a:xfrm>
            <a:off x="203463" y="3575900"/>
            <a:ext cx="8602500" cy="2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Permiten que cada servicio localice su respectiva base de datos dentro de la red de Docker.</a:t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7"/>
          <p:cNvSpPr/>
          <p:nvPr/>
        </p:nvSpPr>
        <p:spPr>
          <a:xfrm>
            <a:off x="526050" y="3945025"/>
            <a:ext cx="26886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Char char="●"/>
            </a:pPr>
            <a:r>
              <a:rPr b="1" lang="es" sz="1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AUTH_DB_HOST</a:t>
            </a:r>
            <a:endParaRPr b="1" sz="13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Char char="●"/>
            </a:pPr>
            <a:r>
              <a:rPr b="1" lang="es" sz="1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AUTH_DB_USER</a:t>
            </a:r>
            <a:endParaRPr b="1" sz="13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Char char="●"/>
            </a:pPr>
            <a:r>
              <a:rPr b="1" lang="es" sz="1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AUTH_DB_PASSWORD</a:t>
            </a:r>
            <a:endParaRPr b="1" sz="13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Char char="●"/>
            </a:pPr>
            <a:r>
              <a:rPr b="1" lang="es" sz="1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AUTH_DB_NAME</a:t>
            </a:r>
            <a:endParaRPr b="1" sz="13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7"/>
          <p:cNvSpPr/>
          <p:nvPr/>
        </p:nvSpPr>
        <p:spPr>
          <a:xfrm>
            <a:off x="5319050" y="3965175"/>
            <a:ext cx="2598600" cy="94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Char char="●"/>
            </a:pPr>
            <a:r>
              <a:rPr b="1" lang="es" sz="1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CITA_DB_HOST</a:t>
            </a:r>
            <a:endParaRPr b="1" sz="13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Char char="●"/>
            </a:pPr>
            <a:r>
              <a:rPr b="1" lang="es" sz="1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CITA_DB_USER</a:t>
            </a:r>
            <a:endParaRPr b="1" sz="13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Char char="●"/>
            </a:pPr>
            <a:r>
              <a:rPr b="1" lang="es" sz="1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CITA_DB_PASSWORD</a:t>
            </a:r>
            <a:endParaRPr b="1" sz="13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Font typeface="Calibri"/>
              <a:buChar char="●"/>
            </a:pPr>
            <a:r>
              <a:rPr b="1" lang="es" sz="13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CITA_DB_NAME</a:t>
            </a:r>
            <a:endParaRPr b="1" sz="130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9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8" name="Google Shape;398;p28"/>
          <p:cNvGrpSpPr/>
          <p:nvPr/>
        </p:nvGrpSpPr>
        <p:grpSpPr>
          <a:xfrm rot="5400000">
            <a:off x="5093465" y="1658302"/>
            <a:ext cx="3841894" cy="3127812"/>
            <a:chOff x="274300" y="1757800"/>
            <a:chExt cx="3497400" cy="3124375"/>
          </a:xfrm>
        </p:grpSpPr>
        <p:sp>
          <p:nvSpPr>
            <p:cNvPr id="399" name="Google Shape;399;p28"/>
            <p:cNvSpPr/>
            <p:nvPr/>
          </p:nvSpPr>
          <p:spPr>
            <a:xfrm>
              <a:off x="274300" y="1757975"/>
              <a:ext cx="3497400" cy="31242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80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" name="Google Shape;400;p28"/>
            <p:cNvSpPr/>
            <p:nvPr/>
          </p:nvSpPr>
          <p:spPr>
            <a:xfrm>
              <a:off x="274300" y="1757800"/>
              <a:ext cx="29400" cy="3124200"/>
            </a:xfrm>
            <a:prstGeom prst="rect">
              <a:avLst/>
            </a:prstGeom>
            <a:solidFill>
              <a:srgbClr val="22C55E"/>
            </a:solidFill>
            <a:ln cap="flat" cmpd="sng" w="12700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1" name="Google Shape;401;p28"/>
          <p:cNvGrpSpPr/>
          <p:nvPr/>
        </p:nvGrpSpPr>
        <p:grpSpPr>
          <a:xfrm>
            <a:off x="267000" y="1746262"/>
            <a:ext cx="4642449" cy="918254"/>
            <a:chOff x="274300" y="1757800"/>
            <a:chExt cx="3497400" cy="3124375"/>
          </a:xfrm>
        </p:grpSpPr>
        <p:sp>
          <p:nvSpPr>
            <p:cNvPr id="402" name="Google Shape;402;p28"/>
            <p:cNvSpPr/>
            <p:nvPr/>
          </p:nvSpPr>
          <p:spPr>
            <a:xfrm>
              <a:off x="274300" y="1757975"/>
              <a:ext cx="3497400" cy="31242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80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28"/>
            <p:cNvSpPr/>
            <p:nvPr/>
          </p:nvSpPr>
          <p:spPr>
            <a:xfrm>
              <a:off x="274300" y="1757800"/>
              <a:ext cx="29400" cy="3124200"/>
            </a:xfrm>
            <a:prstGeom prst="rect">
              <a:avLst/>
            </a:prstGeom>
            <a:solidFill>
              <a:srgbClr val="F59E0B"/>
            </a:solidFill>
            <a:ln cap="flat" cmpd="sng" w="12700">
              <a:solidFill>
                <a:srgbClr val="F59E0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04" name="Google Shape;404;p28"/>
          <p:cNvGrpSpPr/>
          <p:nvPr/>
        </p:nvGrpSpPr>
        <p:grpSpPr>
          <a:xfrm>
            <a:off x="267000" y="914535"/>
            <a:ext cx="8602600" cy="534600"/>
            <a:chOff x="267000" y="914535"/>
            <a:chExt cx="8602600" cy="534600"/>
          </a:xfrm>
        </p:grpSpPr>
        <p:sp>
          <p:nvSpPr>
            <p:cNvPr id="405" name="Google Shape;405;p28"/>
            <p:cNvSpPr/>
            <p:nvPr/>
          </p:nvSpPr>
          <p:spPr>
            <a:xfrm>
              <a:off x="274300" y="914535"/>
              <a:ext cx="8595300" cy="534600"/>
            </a:xfrm>
            <a:prstGeom prst="rect">
              <a:avLst/>
            </a:prstGeom>
            <a:solidFill>
              <a:srgbClr val="B6D7A8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80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28"/>
            <p:cNvSpPr/>
            <p:nvPr/>
          </p:nvSpPr>
          <p:spPr>
            <a:xfrm>
              <a:off x="267000" y="923984"/>
              <a:ext cx="36900" cy="515700"/>
            </a:xfrm>
            <a:prstGeom prst="rect">
              <a:avLst/>
            </a:prstGeom>
            <a:solidFill>
              <a:srgbClr val="3B82F6"/>
            </a:solidFill>
            <a:ln cap="flat" cmpd="sng" w="12700">
              <a:solidFill>
                <a:srgbClr val="3B82F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7" name="Google Shape;407;p28"/>
          <p:cNvSpPr/>
          <p:nvPr/>
        </p:nvSpPr>
        <p:spPr>
          <a:xfrm>
            <a:off x="0" y="0"/>
            <a:ext cx="9144000" cy="7773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8"/>
          <p:cNvSpPr/>
          <p:nvPr/>
        </p:nvSpPr>
        <p:spPr>
          <a:xfrm>
            <a:off x="365760" y="73152"/>
            <a:ext cx="8412600" cy="59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Configuración de Entorno 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8"/>
          <p:cNvSpPr/>
          <p:nvPr/>
        </p:nvSpPr>
        <p:spPr>
          <a:xfrm>
            <a:off x="465975" y="953838"/>
            <a:ext cx="4443600" cy="3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lang="es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Relación de dependencias entre Contenedores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8"/>
          <p:cNvSpPr/>
          <p:nvPr/>
        </p:nvSpPr>
        <p:spPr>
          <a:xfrm>
            <a:off x="290825" y="1746300"/>
            <a:ext cx="45948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lang="e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Nivel base</a:t>
            </a:r>
            <a:endParaRPr i="0" u="none" cap="none" strike="noStrike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8"/>
          <p:cNvSpPr/>
          <p:nvPr/>
        </p:nvSpPr>
        <p:spPr>
          <a:xfrm>
            <a:off x="311225" y="2078288"/>
            <a:ext cx="45540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Los servicios de bases de datos, son los primeros que deben estar listos. En este caso </a:t>
            </a:r>
            <a:r>
              <a:rPr b="1" i="1" lang="es" sz="120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db_autenticacion</a:t>
            </a: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1" i="1" lang="es" sz="120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db_citas</a:t>
            </a:r>
            <a:endParaRPr b="1" i="1" sz="1200">
              <a:solidFill>
                <a:srgbClr val="4A86E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2" name="Google Shape;412;p28"/>
          <p:cNvGrpSpPr/>
          <p:nvPr/>
        </p:nvGrpSpPr>
        <p:grpSpPr>
          <a:xfrm>
            <a:off x="241450" y="2903098"/>
            <a:ext cx="4642449" cy="777345"/>
            <a:chOff x="274300" y="1757800"/>
            <a:chExt cx="3497400" cy="3124375"/>
          </a:xfrm>
        </p:grpSpPr>
        <p:sp>
          <p:nvSpPr>
            <p:cNvPr id="413" name="Google Shape;413;p28"/>
            <p:cNvSpPr/>
            <p:nvPr/>
          </p:nvSpPr>
          <p:spPr>
            <a:xfrm>
              <a:off x="274300" y="1757975"/>
              <a:ext cx="3497400" cy="31242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80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28"/>
            <p:cNvSpPr/>
            <p:nvPr/>
          </p:nvSpPr>
          <p:spPr>
            <a:xfrm>
              <a:off x="274300" y="1757800"/>
              <a:ext cx="29400" cy="3124200"/>
            </a:xfrm>
            <a:prstGeom prst="rect">
              <a:avLst/>
            </a:prstGeom>
            <a:solidFill>
              <a:srgbClr val="22C55E"/>
            </a:solidFill>
            <a:ln cap="flat" cmpd="sng" w="12700">
              <a:solidFill>
                <a:srgbClr val="22C55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5" name="Google Shape;415;p28"/>
          <p:cNvSpPr/>
          <p:nvPr/>
        </p:nvSpPr>
        <p:spPr>
          <a:xfrm>
            <a:off x="340200" y="2903075"/>
            <a:ext cx="45948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lang="e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Nivel lógico - Microservicios</a:t>
            </a:r>
            <a:endParaRPr i="0" u="none" cap="none" strike="noStrike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8"/>
          <p:cNvSpPr/>
          <p:nvPr/>
        </p:nvSpPr>
        <p:spPr>
          <a:xfrm>
            <a:off x="285675" y="3231875"/>
            <a:ext cx="4554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t/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t/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Los servicios de </a:t>
            </a:r>
            <a:r>
              <a:rPr b="1" i="1" lang="es" sz="120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Autenticación</a:t>
            </a: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y </a:t>
            </a:r>
            <a:r>
              <a:rPr b="1" i="1" lang="es" sz="1200">
                <a:solidFill>
                  <a:srgbClr val="4A86E8"/>
                </a:solidFill>
                <a:latin typeface="Calibri"/>
                <a:ea typeface="Calibri"/>
                <a:cs typeface="Calibri"/>
                <a:sym typeface="Calibri"/>
              </a:rPr>
              <a:t>Citas</a:t>
            </a: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inician una vez sus BD están disponibles.</a:t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t/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t/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7" name="Google Shape;417;p28"/>
          <p:cNvGrpSpPr/>
          <p:nvPr/>
        </p:nvGrpSpPr>
        <p:grpSpPr>
          <a:xfrm>
            <a:off x="241450" y="3950098"/>
            <a:ext cx="4642449" cy="777345"/>
            <a:chOff x="274300" y="1757800"/>
            <a:chExt cx="3497400" cy="3124375"/>
          </a:xfrm>
        </p:grpSpPr>
        <p:sp>
          <p:nvSpPr>
            <p:cNvPr id="418" name="Google Shape;418;p28"/>
            <p:cNvSpPr/>
            <p:nvPr/>
          </p:nvSpPr>
          <p:spPr>
            <a:xfrm>
              <a:off x="274300" y="1757975"/>
              <a:ext cx="3497400" cy="3124200"/>
            </a:xfrm>
            <a:prstGeom prst="rect">
              <a:avLst/>
            </a:prstGeom>
            <a:solidFill>
              <a:srgbClr val="FFFFFF"/>
            </a:solidFill>
            <a:ln cap="flat" cmpd="sng" w="127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101600" rotWithShape="0" algn="bl" dir="8100000" dist="38100">
                <a:srgbClr val="000000">
                  <a:alpha val="1804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28"/>
            <p:cNvSpPr/>
            <p:nvPr/>
          </p:nvSpPr>
          <p:spPr>
            <a:xfrm>
              <a:off x="274300" y="1757800"/>
              <a:ext cx="29400" cy="3124200"/>
            </a:xfrm>
            <a:prstGeom prst="rect">
              <a:avLst/>
            </a:prstGeom>
            <a:solidFill>
              <a:srgbClr val="A64D79"/>
            </a:solidFill>
            <a:ln cap="flat" cmpd="sng" w="12700">
              <a:solidFill>
                <a:srgbClr val="A64D7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0" name="Google Shape;420;p28"/>
          <p:cNvSpPr/>
          <p:nvPr/>
        </p:nvSpPr>
        <p:spPr>
          <a:xfrm>
            <a:off x="340200" y="3950075"/>
            <a:ext cx="4594800" cy="3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400"/>
              <a:buFont typeface="Consolas"/>
              <a:buNone/>
            </a:pPr>
            <a:r>
              <a:rPr b="1" lang="es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Nivel de entrada - Gateway</a:t>
            </a:r>
            <a:endParaRPr i="0" u="none" cap="none" strike="noStrike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8"/>
          <p:cNvSpPr/>
          <p:nvPr/>
        </p:nvSpPr>
        <p:spPr>
          <a:xfrm>
            <a:off x="285675" y="4278875"/>
            <a:ext cx="4554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100"/>
              <a:buFont typeface="Calibri"/>
              <a:buNone/>
            </a:pPr>
            <a:r>
              <a:rPr i="1" lang="es" sz="120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Es el último en subir, asegurando que todos los servicios internos ya están escuchando peticiones.</a:t>
            </a:r>
            <a:endParaRPr i="1" sz="1200">
              <a:solidFill>
                <a:srgbClr val="4B55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2" name="Google Shape;422;p28" title="_Diagrama de flujo - diagrama - diapositiv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8861" y="1449124"/>
            <a:ext cx="2051115" cy="36405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9"/>
          <p:cNvSpPr/>
          <p:nvPr/>
        </p:nvSpPr>
        <p:spPr>
          <a:xfrm>
            <a:off x="1302450" y="1135850"/>
            <a:ext cx="6539100" cy="7773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5000">
                <a:solidFill>
                  <a:schemeClr val="lt1"/>
                </a:solidFill>
              </a:rPr>
              <a:t>MUCHAS GRACIAS</a:t>
            </a:r>
            <a:endParaRPr b="1" sz="5000">
              <a:solidFill>
                <a:schemeClr val="lt1"/>
              </a:solidFill>
            </a:endParaRPr>
          </a:p>
        </p:txBody>
      </p:sp>
      <p:pic>
        <p:nvPicPr>
          <p:cNvPr id="429" name="Google Shape;42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7438" y="2175325"/>
            <a:ext cx="5229116" cy="275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